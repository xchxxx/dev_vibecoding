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C2877-3CF1-428E-F800-5A0BE78C4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5709C9-131B-9DC6-B035-161B06D6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B6D649-E7F3-0737-74AF-D51DC4A9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744739-B7DB-3AB4-52FF-1DB05BDB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61B78-F2B8-AF52-880A-EB551E12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93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2F712-3F70-88E3-7D54-78D1795D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FCEFB0-19DC-E534-4E2C-ACB2F47A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066AAF-81D4-FEBF-D404-11FF5EE4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D0049-3229-5C7F-AE14-4E98DFFA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343423-47DC-D4B2-2198-92C527B1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20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775E7-B183-CD29-D10C-E33C59BC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EBE26C-C2E5-B60D-3BD4-0F9E7003E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4C4842-6271-0EB7-99B7-1CA81A3C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B9662-7C0C-9898-2C90-B557106D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98A21-6CA7-F380-90CA-51554BAC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0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C74C7-056E-1270-0D0E-246F1A2F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720808-6DE7-5BE7-7E3F-B178AB5B2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4E1636-72FB-769A-9148-6DCAF337C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494F3D-4F7B-F181-920C-F87FAE86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0E9D13-1921-7805-7981-FD8486BC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A8261-02F7-89C4-201E-9945F00C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67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CDCF1-9602-3580-FB5C-8237C0CA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18E0E-6F7C-F627-A3D0-E99E61C8B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D63E5B-2D9F-093F-6102-6FF7D3EDF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4E5B9B-AD71-F60B-A81F-7EF6517DB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9826D9-3692-6463-352C-113FCE71B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117852-0B9C-149D-4156-C5B16C22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08CE1F-BEBC-FFBB-B070-E138CEED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4F8648-5CD3-723C-CFB6-F834F56F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70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A7483-655C-A198-F164-CC578972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19CD01-EC1D-6716-DF6D-2BB2F8A7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FFE841-19B6-DD45-C258-589BB68A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460EA3-613F-DDF0-2BE7-F842DC22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69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76FD46-FC89-DA3C-28EE-CD17C843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FF206E-F0BB-21E7-A671-18E3BE49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BCFFE3-2BA8-05E7-68A4-60D85D31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2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2E1D1-B2DC-0855-4E28-37B003B5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1EF08-F81D-43AC-2C5A-A4281CBDF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BA39-3A11-0D9E-20C6-95A84E3C0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8CA68C-56CC-5D7A-4431-C9C14A57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E55338-E613-5B2F-56B8-583956F6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46D87D-B722-FA5D-6B6A-FC8B80BB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953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51D0F-60E2-41CF-C610-55A82241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375D0D-316F-0B00-FA52-5A38EA5D6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D51C9B-7BDC-9BA0-2F99-2DFB0A02B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B47B27-6ABA-1DC7-8B69-0240EC08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C7A0E6-4FF5-A036-D1C6-4041F6DF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C10B29-B198-090B-1963-68C3570B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5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8B8E4-7EB4-4C53-7FD4-B9DF7552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38A516-4C8C-6F3F-893F-E61655740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92A180-4797-26A9-D0C8-37430FA2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C9812-4D6D-9EED-50B9-BB51F7249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6755C6-3024-F48C-601C-541BAD3B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78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41952E-3412-7766-65EE-731128F25B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54E799-E3C5-C3D1-BA03-C7E488781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C2F49F-2837-8470-9347-00D3855D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0354A5-91EB-8C3A-19D1-04E4E8EA8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2A47DA-C933-BC86-B6B5-1FA90EF6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505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69F05-3360-E6DB-6CD3-199B1A93B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5025C8-27D9-1898-5095-A020A5E04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4002A-5C7A-D3A7-0107-3906F87A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60DE6-2191-C635-9B98-D8962E53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9DB5F-36E9-6ACF-6A28-30DDC3E8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7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6BA3BA-0931-BCA5-6AD3-88D12788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E543F-879D-0CF6-605E-49EFD7DCC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0ADBD3-A276-84A7-CED9-2FC61269C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80CEE-D144-422A-89D7-55CA01C86A28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59B32-6AD2-374B-B30F-CF6ABF6DD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6D57A2-28C3-C8DB-E6B8-AE11AC7F6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558B6-B896-49F2-A3D1-C3F6D4DA4C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41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8A94A-DDCB-3017-54D6-A71B63AA8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封面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B9F05-AD8C-3ED1-5107-5316015D8E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200">
                <a:solidFill>
                  <a:srgbClr val="4D545B"/>
                </a:solidFill>
                <a:latin typeface="Microsoft YaHei" panose="020B0503020204020204" pitchFamily="34" charset="-122"/>
              </a:rPr>
              <a:t>论文题目：</a:t>
            </a:r>
            <a:r>
              <a:rPr lang="en-US" altLang="zh-CN" sz="2200">
                <a:solidFill>
                  <a:srgbClr val="4D545B"/>
                </a:solidFill>
                <a:latin typeface="Microsoft YaHei" panose="020B0503020204020204" pitchFamily="34" charset="-122"/>
              </a:rPr>
              <a:t>Zero-Shot Extraction of Stock Relationship Graphs with LLMs</a:t>
            </a:r>
          </a:p>
          <a:p>
            <a:r>
              <a:rPr lang="zh-CN" altLang="en-US" sz="2200">
                <a:solidFill>
                  <a:srgbClr val="4D545B"/>
                </a:solidFill>
                <a:latin typeface="Microsoft YaHei" panose="020B0503020204020204" pitchFamily="34" charset="-122"/>
              </a:rPr>
              <a:t>讲解目标：按章节讲清研究问题、方法流程、实验结论与局限</a:t>
            </a:r>
          </a:p>
          <a:p>
            <a:r>
              <a:rPr lang="zh-CN" altLang="en-US" sz="2200">
                <a:solidFill>
                  <a:srgbClr val="4D545B"/>
                </a:solidFill>
                <a:latin typeface="Microsoft YaHei" panose="020B0503020204020204" pitchFamily="34" charset="-122"/>
              </a:rPr>
              <a:t>汇报重点：</a:t>
            </a:r>
            <a:r>
              <a:rPr lang="en-US" altLang="zh-CN" sz="2200">
                <a:solidFill>
                  <a:srgbClr val="4D545B"/>
                </a:solidFill>
                <a:latin typeface="Microsoft YaHei" panose="020B0503020204020204" pitchFamily="34" charset="-122"/>
              </a:rPr>
              <a:t>Methodology </a:t>
            </a:r>
            <a:r>
              <a:rPr lang="zh-CN" altLang="en-US" sz="2200">
                <a:solidFill>
                  <a:srgbClr val="4D545B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4D545B"/>
                </a:solidFill>
                <a:latin typeface="Microsoft YaHei" panose="020B0503020204020204" pitchFamily="34" charset="-122"/>
              </a:rPr>
              <a:t>Experiments</a:t>
            </a:r>
            <a:endParaRPr lang="zh-CN" altLang="en-US" sz="2200">
              <a:solidFill>
                <a:srgbClr val="4D545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363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C5626-E68A-0FBB-50A8-429A6A40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摘要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Abstract</a:t>
            </a:r>
            <a:endParaRPr lang="zh-CN" altLang="en-US" sz="2800" b="1">
              <a:solidFill>
                <a:srgbClr val="123E7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6484B-DBCC-BA36-E6D1-B529FCCF8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研究对象：利用股票之间的关系辅助股票收益预测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传统问题：很多方法依赖行业分类或固定知识库，关系过于粗糙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核心想法：让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直接给出公司之间的商业关系，再把关系网交给图模型使用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论文主张：更真实的关系图能够提升排序预测和投资表现</a:t>
            </a:r>
          </a:p>
        </p:txBody>
      </p:sp>
    </p:spTree>
    <p:extLst>
      <p:ext uri="{BB962C8B-B14F-4D97-AF65-F5344CB8AC3E}">
        <p14:creationId xmlns:p14="http://schemas.microsoft.com/office/powerpoint/2010/main" val="14457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CF705-B343-298F-1113-3852FDB9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第一章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Introduction</a:t>
            </a:r>
            <a:endParaRPr lang="zh-CN" altLang="en-US" sz="2800" b="1">
              <a:solidFill>
                <a:srgbClr val="123E7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2CADB-C8D1-7E60-3137-FD325C3E7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研究背景：股票不是孤立变化，供应链、竞争、合作、投资关系都会相互传导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现有缺陷：只按行业连边，会忽略跨行业但强相关的真实商业联系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研究目标：构建一张更接近真实世界的公司关系图，作为市场结构骨架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论文贡献：首次在金融预测中用零样本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抽取股票关系图</a:t>
            </a:r>
          </a:p>
        </p:txBody>
      </p:sp>
    </p:spTree>
    <p:extLst>
      <p:ext uri="{BB962C8B-B14F-4D97-AF65-F5344CB8AC3E}">
        <p14:creationId xmlns:p14="http://schemas.microsoft.com/office/powerpoint/2010/main" val="262311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C81D8-B2B8-1CF1-90E3-23D6DF70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第二章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Related Work</a:t>
            </a:r>
            <a:endParaRPr lang="zh-CN" altLang="en-US" sz="2800" b="1">
              <a:solidFill>
                <a:srgbClr val="123E7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2E3B20-7C93-1FBF-E401-F165AA6B5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方向一：预定义静态关系图，如行业、股权、客户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供应商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方向二：从历史价格中学习动态关系图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已有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工作：多依赖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ESG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报告、研报等外部文本来抽关系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本文差异：不依赖外部文本，直接调用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的内部先验知识</a:t>
            </a:r>
          </a:p>
        </p:txBody>
      </p:sp>
    </p:spTree>
    <p:extLst>
      <p:ext uri="{BB962C8B-B14F-4D97-AF65-F5344CB8AC3E}">
        <p14:creationId xmlns:p14="http://schemas.microsoft.com/office/powerpoint/2010/main" val="400005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51BE8-291A-B157-16E0-27969BB2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第三章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Methodology -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整体流程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E4E830-542F-BC34-635F-AE8F63AAA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Step 1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：收集每只股票的历史行情与技术指标，作为节点特征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Step 2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：用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为公司构建多关系图，关系包括供应、竞争、投资、合作等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Step 3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：把价格特征和关系图一起送入图神经网络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Step 4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：输出每只股票下一交易日的预测分数，并按分数排序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核心思想：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不直接预测价格，而是负责提供更好的关系结构</a:t>
            </a:r>
          </a:p>
        </p:txBody>
      </p:sp>
    </p:spTree>
    <p:extLst>
      <p:ext uri="{BB962C8B-B14F-4D97-AF65-F5344CB8AC3E}">
        <p14:creationId xmlns:p14="http://schemas.microsoft.com/office/powerpoint/2010/main" val="320976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A3CBA-0B1F-0BF1-7D93-D33801D2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第三章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Methodology - LLM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如何构图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3B6CBF-FE60-D698-64A3-AF7123D32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输入对象：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S&amp;P 500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公司集合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关系类型来源：参考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S&amp;P Global Business Relationship Dataset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设计关系类别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关系示例：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customer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supplier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competitor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peer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investor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parent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subsidiary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R&amp;D partner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等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Prompt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设计：限定公司范围、限定关系集合、要求返回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JSON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、按相关度排序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输出结果：得到从某个源公司出发、指向其他公司的多种关系边</a:t>
            </a:r>
          </a:p>
        </p:txBody>
      </p:sp>
    </p:spTree>
    <p:extLst>
      <p:ext uri="{BB962C8B-B14F-4D97-AF65-F5344CB8AC3E}">
        <p14:creationId xmlns:p14="http://schemas.microsoft.com/office/powerpoint/2010/main" val="197544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FFD6B-6E23-690C-FB7B-91923294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7.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第三章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Methodology -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图构建优化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575A2C-81D6-E5D7-CF58-5FEC1BF95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不是让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自由生成关系，而是在预定义关系标签中做分类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论文提到会输出关系及其置信度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相关度，用于结构化筛选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关键后处理：若某类关系总边数低于阈值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κ=200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，则整类删除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这样做的目的：去掉极稀疏、噪声大、对下游帮助有限的关系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最终得到一张多关系、可有方向性的静态公司图</a:t>
            </a:r>
          </a:p>
        </p:txBody>
      </p:sp>
    </p:spTree>
    <p:extLst>
      <p:ext uri="{BB962C8B-B14F-4D97-AF65-F5344CB8AC3E}">
        <p14:creationId xmlns:p14="http://schemas.microsoft.com/office/powerpoint/2010/main" val="182476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6AFA5-1B2D-F5C9-33D4-AE10C7F0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8.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第三章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Methodology -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预测模型如何使用关系图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A61B69-AD54-99C5-405E-E71D03E06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作者选了两种代表性图模型：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RGCN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RGAT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共性：都让一家公司在预测时吸收其关联公司的信息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RGCN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：按不同关系分别做信息聚合，强调稳定的关系建模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RGAT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：为不同邻居和不同关系分配注意力权重，强调信息轻重有别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设计意图：验证收益来自“更好的图”，而不是某一个特定模型</a:t>
            </a:r>
          </a:p>
        </p:txBody>
      </p:sp>
    </p:spTree>
    <p:extLst>
      <p:ext uri="{BB962C8B-B14F-4D97-AF65-F5344CB8AC3E}">
        <p14:creationId xmlns:p14="http://schemas.microsoft.com/office/powerpoint/2010/main" val="367909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52131-37C7-D3E5-917A-22EEE138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9.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第三章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Methodology -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训练目标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F1B7FC-4817-1812-38F1-687EF8DA7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任务定义：预测下一天股票收益，并按收益高低进行排序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损失函数由两部分组成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回归损失：预测值尽量接近真实收益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排序损失：如果模型把弱股票排在强股票前面，就进行惩罚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混合目标的意义：既关心数值误差，也关心选股排序是否正确</a:t>
            </a:r>
          </a:p>
        </p:txBody>
      </p:sp>
    </p:spTree>
    <p:extLst>
      <p:ext uri="{BB962C8B-B14F-4D97-AF65-F5344CB8AC3E}">
        <p14:creationId xmlns:p14="http://schemas.microsoft.com/office/powerpoint/2010/main" val="1044205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DF9BB-1B4C-011D-2221-08AE3D6D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10.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第四章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Experiments -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24000E-BEFA-2EE3-15E2-F1E6E3395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数据：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S&amp;P 500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日频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OHLCV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，加上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MA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RSI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MACD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等技术指标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样本范围：筛选后共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452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只股票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时间切分：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Train 2012/07-2022/06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Valid 2022/07-2023/09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Test 2023/10-2024/12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基线关系图：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行业分类图、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Wikidata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公司关系图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评价指标：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MSE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MRR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、累计收益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IRR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Sharpe Ratio</a:t>
            </a:r>
            <a:endParaRPr lang="zh-CN" altLang="en-US" sz="2000">
              <a:solidFill>
                <a:srgbClr val="2A313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B591A-DD00-3703-ED36-A2EC0C43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11.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第四章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Experiments -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关系图分析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CA6E08-41B3-02EA-01D3-AE608AFCE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图保留了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类关系，明显多于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Wikidata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类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覆盖公司数达到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452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，与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相同，高于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Wikidata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358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总边数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12,800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，介于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Wikidata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之间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更关键的是：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图允许有方向，能表达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supplier -&gt; customer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这类非对称关系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图在多样性、覆盖率、结构真实性上更强</a:t>
            </a:r>
          </a:p>
        </p:txBody>
      </p:sp>
    </p:spTree>
    <p:extLst>
      <p:ext uri="{BB962C8B-B14F-4D97-AF65-F5344CB8AC3E}">
        <p14:creationId xmlns:p14="http://schemas.microsoft.com/office/powerpoint/2010/main" val="3987129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58717-9D6F-04A3-3CE6-F364955F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12.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第四章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Experiments -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预测与投资结果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AD49C2-070F-CC3F-F8B2-030587CF8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RGAT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RGCN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两个模型下，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图整体优于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GICS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Wikidata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排序指标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MRR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提升明显，说明更容易把真正表现好的股票排到前面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模拟投资中，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top-1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top-10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策略的累计收益和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Sharpe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都更高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作者据此认为：关键提升来自关系图质量，而不是偶然的模型参数优势</a:t>
            </a:r>
          </a:p>
        </p:txBody>
      </p:sp>
    </p:spTree>
    <p:extLst>
      <p:ext uri="{BB962C8B-B14F-4D97-AF65-F5344CB8AC3E}">
        <p14:creationId xmlns:p14="http://schemas.microsoft.com/office/powerpoint/2010/main" val="6999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852EB-5A8A-F1DD-06BE-70F37AC6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13.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第五章 </a:t>
            </a:r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Conclusions &amp; Future Work</a:t>
            </a:r>
            <a:endParaRPr lang="zh-CN" altLang="en-US" sz="2800" b="1">
              <a:solidFill>
                <a:srgbClr val="123E7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050D6E-7ACA-B4F0-5775-1976E4D09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可以作为公司关系知识源，帮助建立更有效的股票关系图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研究意义：把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用在“结构构建”而不是直接价格预测，思路更稳健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未来方向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：把静态关系扩展为随时间变化的动态关系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未来方向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：融合外部文本、情绪或多模态数据</a:t>
            </a:r>
          </a:p>
        </p:txBody>
      </p:sp>
    </p:spTree>
    <p:extLst>
      <p:ext uri="{BB962C8B-B14F-4D97-AF65-F5344CB8AC3E}">
        <p14:creationId xmlns:p14="http://schemas.microsoft.com/office/powerpoint/2010/main" val="131198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99F5B-871F-9A10-A1DD-F499A75B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14. </a:t>
            </a:r>
            <a:r>
              <a:rPr lang="zh-CN" altLang="en-US" sz="2800" b="1">
                <a:solidFill>
                  <a:srgbClr val="123E7A"/>
                </a:solidFill>
                <a:latin typeface="Microsoft YaHei" panose="020B0503020204020204" pitchFamily="34" charset="-122"/>
              </a:rPr>
              <a:t>论文评价与答辩可讲点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27C52-C733-A72A-9FF3-8CEC63972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优点：问题定义清楚，方法链路完整，实验结果在两个模型上都成立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创新点：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LLM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负责“建图”，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GNN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负责“预测”，两者职责清晰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局限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：关系真实性主要由下游效果间接证明，人工核验不足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局限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：静态图不能及时反映公司关系变化</a:t>
            </a:r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局限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：对 </a:t>
            </a:r>
            <a:r>
              <a:rPr lang="en-US" altLang="zh-CN" sz="2000">
                <a:solidFill>
                  <a:srgbClr val="2A313A"/>
                </a:solidFill>
                <a:latin typeface="Microsoft YaHei" panose="020B0503020204020204" pitchFamily="34" charset="-122"/>
              </a:rPr>
              <a:t>prompt</a:t>
            </a:r>
            <a:r>
              <a:rPr lang="zh-CN" altLang="en-US" sz="2000">
                <a:solidFill>
                  <a:srgbClr val="2A313A"/>
                </a:solidFill>
                <a:latin typeface="Microsoft YaHei" panose="020B0503020204020204" pitchFamily="34" charset="-122"/>
              </a:rPr>
              <a:t>、模型版本与知识截止时间有一定依赖</a:t>
            </a:r>
          </a:p>
        </p:txBody>
      </p:sp>
    </p:spTree>
    <p:extLst>
      <p:ext uri="{BB962C8B-B14F-4D97-AF65-F5344CB8AC3E}">
        <p14:creationId xmlns:p14="http://schemas.microsoft.com/office/powerpoint/2010/main" val="536011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</Words>
  <Application>Microsoft Office PowerPoint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Microsoft YaHei</vt:lpstr>
      <vt:lpstr>Arial</vt:lpstr>
      <vt:lpstr>Office 主题​​</vt:lpstr>
      <vt:lpstr>1. 封面</vt:lpstr>
      <vt:lpstr>2. 摘要 Abstract</vt:lpstr>
      <vt:lpstr>3. 第一章 Introduction</vt:lpstr>
      <vt:lpstr>4. 第二章 Related Work</vt:lpstr>
      <vt:lpstr>5. 第三章 Methodology - 整体流程</vt:lpstr>
      <vt:lpstr>6. 第三章 Methodology - LLM 如何构图</vt:lpstr>
      <vt:lpstr>7. 第三章 Methodology - 图构建优化</vt:lpstr>
      <vt:lpstr>8. 第三章 Methodology - 预测模型如何使用关系图</vt:lpstr>
      <vt:lpstr>9. 第三章 Methodology - 训练目标</vt:lpstr>
      <vt:lpstr>10. 第四章 Experiments - 实验设置</vt:lpstr>
      <vt:lpstr>11. 第四章 Experiments - 关系图分析</vt:lpstr>
      <vt:lpstr>12. 第四章 Experiments - 预测与投资结果</vt:lpstr>
      <vt:lpstr>13. 第五章 Conclusions &amp; Future Work</vt:lpstr>
      <vt:lpstr>14. 论文评价与答辩可讲点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723856119@qq.com</dc:creator>
  <cp:lastModifiedBy>723856119@qq.com</cp:lastModifiedBy>
  <cp:revision>1</cp:revision>
  <dcterms:created xsi:type="dcterms:W3CDTF">2026-06-01T07:52:28Z</dcterms:created>
  <dcterms:modified xsi:type="dcterms:W3CDTF">2026-06-01T07:52:28Z</dcterms:modified>
</cp:coreProperties>
</file>