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5009D-531F-66E3-0FEB-D24B3C93E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2DCD7E-BB6E-D9CC-C785-9283FFEE4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0D3CA3-1A01-1101-F3E7-EEEAC4F9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BA81-8205-4CD6-BEBE-8DD8255C0F3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9C064-D194-A5A0-DFF0-5E581A93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DA85E-920A-779C-736B-58E3A10D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CDA1E-C79E-416E-854B-F2A233D65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30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B93485-C193-AF67-C359-4D1DDA21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D5E33-BB53-419D-5D3A-932A9A854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6B0F09-0464-9F86-474C-8B537E7FB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BA81-8205-4CD6-BEBE-8DD8255C0F3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3E35D1-7CAC-1626-C0FE-66B75E6C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D88313-4C36-24F6-D810-2BFF1A77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CDA1E-C79E-416E-854B-F2A233D65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87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CDC33-2999-7A22-FF14-7E311E5F4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381B59-A679-848D-DDAF-83C8CB80A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21FA8-96CB-16C8-8F15-2773BBA0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BA81-8205-4CD6-BEBE-8DD8255C0F3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E0E507-1FBF-FA04-9485-3805429C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5230EC-F46A-2E3C-793A-19C53876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CDA1E-C79E-416E-854B-F2A233D65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466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37C2D-43C7-F26D-A508-6FA126901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33E543-B567-5076-F86A-F3E7510B0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D37C58-07A0-7522-A9B9-5628C86FF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BDBF5D-E496-DF9E-DE79-953C3460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BA81-8205-4CD6-BEBE-8DD8255C0F3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916E82-C7F7-2DC1-D3DC-3167784A6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72C163-3B68-1CB9-BFE3-BB8AC5D19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CDA1E-C79E-416E-854B-F2A233D65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865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A8580-3D4F-1DAE-A299-FF8819457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02F3F5-5C84-A953-7E2A-1D92C1DEA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147041-F61D-35E1-2900-D3F7D0C81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2FE8C2-326F-1C30-5B7F-E44127249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4B3FA1-9C63-6276-9BF9-C901D3D39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5C56CE-DE8E-6421-227A-9A114C86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BA81-8205-4CD6-BEBE-8DD8255C0F3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3F14A6-3D2F-A76E-0CDD-1D550AF0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6B3180-D1A8-7088-0D98-F4FD7A92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CDA1E-C79E-416E-854B-F2A233D65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597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7A8BF-A2F0-FFC3-0122-C063D6F7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666796-B009-947B-411F-DC898D526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BA81-8205-4CD6-BEBE-8DD8255C0F3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58B29-C488-135A-AB7E-C345276ED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877458-A3F5-7682-0E3C-9956AFF0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CDA1E-C79E-416E-854B-F2A233D65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16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E15BA5-2B90-34AF-9F78-F7538D2D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BA81-8205-4CD6-BEBE-8DD8255C0F3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231366-C99E-9DD1-1666-01D9CB34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F07B14-6021-6172-D5FB-C47ADCF67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CDA1E-C79E-416E-854B-F2A233D65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8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69A56-458B-D04A-429A-FF05A0B8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2DFD23-DE1A-9F41-3E59-8CBCFA46B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ACC932-1C92-2503-C396-5E2E4A2B6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313AF6-FDE4-D43E-2C6A-67DDD2480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BA81-8205-4CD6-BEBE-8DD8255C0F3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5F2D40-6C15-EA37-A493-86C48124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819B01-E991-D0DF-0B2E-70C1DCFB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CDA1E-C79E-416E-854B-F2A233D65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71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DAD25-D85E-1E5C-9F10-BB4C06337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E46165-8D1A-7E85-9262-B489705525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466D79-307F-4ABD-D58E-38FFD3019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197342-0FCC-9403-27C0-3FB3D089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BA81-8205-4CD6-BEBE-8DD8255C0F3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2D3282-272A-4FD6-2D6D-97DF39C0D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D70C49-8164-CDFC-14B8-10F059D1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CDA1E-C79E-416E-854B-F2A233D65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608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DF279-0760-B601-ECEA-81481688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7A157E-A9E0-BF78-F3D3-DC6589C52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C4190D-7900-25CB-6BA1-50AC61B1D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BA81-8205-4CD6-BEBE-8DD8255C0F3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59997-8FE3-FDFB-2009-56CD73DA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2928B4-C624-FD39-F227-00946AF8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CDA1E-C79E-416E-854B-F2A233D65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301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7B52A8-6C91-E441-BCBF-C6ED06E7C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3F173C-BECD-595D-D1E6-46E5DBAE4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D5F326-C421-A094-256B-6A99E74E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BA81-8205-4CD6-BEBE-8DD8255C0F3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D0646-EAD4-7ACF-EF82-2666FEC2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A3A002-092F-E295-3110-651A0FB3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CDA1E-C79E-416E-854B-F2A233D65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39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27C1C1-38F4-7F2D-B9F7-30FB05E3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A699BC-EB91-CC9A-F554-91AD9EEC6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10046E-50DE-3191-4ADD-025C938ECD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2BA81-8205-4CD6-BEBE-8DD8255C0F3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DDFABB-D172-3A4E-BC3B-F3766E612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305617-2695-1E78-1B3C-98B35120A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CDA1E-C79E-416E-854B-F2A233D65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26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27407A-F396-9B1C-20DF-BD64B0DDC3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54334051-AF23-C94F-94DC-C589E1E7F853}"/>
              </a:ext>
            </a:extLst>
          </p:cNvPr>
          <p:cNvSpPr/>
          <p:nvPr/>
        </p:nvSpPr>
        <p:spPr>
          <a:xfrm>
            <a:off x="1244600" y="1041400"/>
            <a:ext cx="6883400" cy="3810000"/>
          </a:xfrm>
          <a:prstGeom prst="roundRect">
            <a:avLst/>
          </a:prstGeom>
          <a:solidFill>
            <a:srgbClr val="FAF6EE">
              <a:alpha val="92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A0CB87-D8CB-7757-B105-B69AD7DF859D}"/>
              </a:ext>
            </a:extLst>
          </p:cNvPr>
          <p:cNvSpPr txBox="1"/>
          <p:nvPr/>
        </p:nvSpPr>
        <p:spPr>
          <a:xfrm>
            <a:off x="1600200" y="1524000"/>
            <a:ext cx="6146800" cy="923330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3000" b="1">
                <a:solidFill>
                  <a:srgbClr val="34312C"/>
                </a:solidFill>
                <a:latin typeface="Microsoft YaHei" panose="020B0503020204020204" pitchFamily="34" charset="-122"/>
              </a:rPr>
              <a:t>Zero-Shot Extraction of Stock Relationship Graphs with LLMs</a:t>
            </a:r>
            <a:endParaRPr lang="zh-CN" altLang="en-US" sz="3000" b="1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4A06D9-5992-8A05-2031-F9CF8B629D98}"/>
              </a:ext>
            </a:extLst>
          </p:cNvPr>
          <p:cNvSpPr txBox="1"/>
          <p:nvPr/>
        </p:nvSpPr>
        <p:spPr>
          <a:xfrm>
            <a:off x="1625600" y="2717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b="1">
                <a:solidFill>
                  <a:srgbClr val="B77050"/>
                </a:solidFill>
                <a:latin typeface="Microsoft YaHei" panose="020B0503020204020204" pitchFamily="34" charset="-122"/>
              </a:rPr>
              <a:t>基于大语言模型的零样本股票关系图抽取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2C3789-1386-0BE9-0E71-41728D78CFA5}"/>
              </a:ext>
            </a:extLst>
          </p:cNvPr>
          <p:cNvSpPr txBox="1"/>
          <p:nvPr/>
        </p:nvSpPr>
        <p:spPr>
          <a:xfrm>
            <a:off x="1651000" y="3505200"/>
            <a:ext cx="5715000" cy="20005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300">
                <a:solidFill>
                  <a:srgbClr val="6D655B"/>
                </a:solidFill>
                <a:latin typeface="Microsoft YaHei" panose="020B0503020204020204" pitchFamily="34" charset="-122"/>
              </a:rPr>
              <a:t>作者：</a:t>
            </a:r>
            <a:r>
              <a:rPr lang="en-US" altLang="zh-CN" sz="1300">
                <a:solidFill>
                  <a:srgbClr val="6D655B"/>
                </a:solidFill>
                <a:latin typeface="Microsoft YaHei" panose="020B0503020204020204" pitchFamily="34" charset="-122"/>
              </a:rPr>
              <a:t>Hao Zhou, Luis Felipe Costa Sperb, Tiejun Ma</a:t>
            </a:r>
            <a:endParaRPr lang="zh-CN" altLang="en-US" sz="13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205C85-F028-699D-76D3-21CBE239C7E7}"/>
              </a:ext>
            </a:extLst>
          </p:cNvPr>
          <p:cNvSpPr txBox="1"/>
          <p:nvPr/>
        </p:nvSpPr>
        <p:spPr>
          <a:xfrm>
            <a:off x="1651000" y="3860800"/>
            <a:ext cx="5715000" cy="400110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300">
                <a:solidFill>
                  <a:srgbClr val="6D655B"/>
                </a:solidFill>
                <a:latin typeface="Microsoft YaHei" panose="020B0503020204020204" pitchFamily="34" charset="-122"/>
              </a:rPr>
              <a:t>会议：</a:t>
            </a:r>
            <a:r>
              <a:rPr lang="en-US" altLang="zh-CN" sz="1300">
                <a:solidFill>
                  <a:srgbClr val="6D655B"/>
                </a:solidFill>
                <a:latin typeface="Microsoft YaHei" panose="020B0503020204020204" pitchFamily="34" charset="-122"/>
              </a:rPr>
              <a:t>The 10th Workshop on Financial Technology and Natural Language, EMNLP 2025</a:t>
            </a:r>
            <a:endParaRPr lang="zh-CN" altLang="en-US" sz="13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44AF35-2CA5-512F-E458-D5B146FBDD3A}"/>
              </a:ext>
            </a:extLst>
          </p:cNvPr>
          <p:cNvSpPr txBox="1"/>
          <p:nvPr/>
        </p:nvSpPr>
        <p:spPr>
          <a:xfrm>
            <a:off x="1651000" y="4216400"/>
            <a:ext cx="5715000" cy="20005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300">
                <a:solidFill>
                  <a:srgbClr val="6D655B"/>
                </a:solidFill>
                <a:latin typeface="Microsoft YaHei" panose="020B0503020204020204" pitchFamily="34" charset="-122"/>
              </a:rPr>
              <a:t>汇报人：徐陈浩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3D0E06C-2DF8-4D80-DA34-F6DE4E342AF6}"/>
              </a:ext>
            </a:extLst>
          </p:cNvPr>
          <p:cNvSpPr/>
          <p:nvPr/>
        </p:nvSpPr>
        <p:spPr>
          <a:xfrm>
            <a:off x="1600200" y="4749800"/>
            <a:ext cx="1498600" cy="381000"/>
          </a:xfrm>
          <a:prstGeom prst="roundRect">
            <a:avLst/>
          </a:prstGeom>
          <a:solidFill>
            <a:srgbClr val="7B92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997CFD-A89E-5E1D-D595-921280C2651A}"/>
              </a:ext>
            </a:extLst>
          </p:cNvPr>
          <p:cNvSpPr txBox="1"/>
          <p:nvPr/>
        </p:nvSpPr>
        <p:spPr>
          <a:xfrm>
            <a:off x="1828800" y="4838700"/>
            <a:ext cx="1219200" cy="184666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论文汇报</a:t>
            </a:r>
          </a:p>
        </p:txBody>
      </p:sp>
    </p:spTree>
    <p:extLst>
      <p:ext uri="{BB962C8B-B14F-4D97-AF65-F5344CB8AC3E}">
        <p14:creationId xmlns:p14="http://schemas.microsoft.com/office/powerpoint/2010/main" val="201551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D7A5E6-C95F-0FFD-30D3-1629FB12896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EAF5AF2E-5E9B-F785-F914-7B052FC7923C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E3A5D0-7F9F-9386-D288-40F64436A81E}"/>
              </a:ext>
            </a:extLst>
          </p:cNvPr>
          <p:cNvSpPr txBox="1"/>
          <p:nvPr/>
        </p:nvSpPr>
        <p:spPr>
          <a:xfrm>
            <a:off x="914400" y="431800"/>
            <a:ext cx="660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汇报提纲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D013F8-09C1-BD75-9CA1-B63E17FE2398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研究背景：为什么股票预测需要更好的公司关系图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934402-64FE-6FC9-BA96-40A3CCE54246}"/>
              </a:ext>
            </a:extLst>
          </p:cNvPr>
          <p:cNvSpPr txBox="1"/>
          <p:nvPr/>
        </p:nvSpPr>
        <p:spPr>
          <a:xfrm>
            <a:off x="1016000" y="23241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核心方法：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如何抽取公司关系，并转化为可用的股票关系图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1232D5-DFD7-0ACC-A56C-0D05A61F51F1}"/>
              </a:ext>
            </a:extLst>
          </p:cNvPr>
          <p:cNvSpPr txBox="1"/>
          <p:nvPr/>
        </p:nvSpPr>
        <p:spPr>
          <a:xfrm>
            <a:off x="1016000" y="31242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实验结果：关系图质量、排序效果与投资收益是否真正提升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C492DA-CB89-C34F-2D48-465A6CEE5A8E}"/>
              </a:ext>
            </a:extLst>
          </p:cNvPr>
          <p:cNvSpPr txBox="1"/>
          <p:nvPr/>
        </p:nvSpPr>
        <p:spPr>
          <a:xfrm>
            <a:off x="1016000" y="3924300"/>
            <a:ext cx="5080000" cy="292388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论文评价：创新点、局限与可继续推进的方向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FBD025-7FE1-A640-C2E8-E89CE0A1C6EC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F8A43DB-3A36-9E30-8299-2CF21C364A50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2523766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C40EEDF-7B2D-C979-1F24-173327B7D02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5BC99692-1A82-160D-F2BA-0DC2DBB7F69F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49D48D-67D8-DF1B-BB47-A65A92E7385D}"/>
              </a:ext>
            </a:extLst>
          </p:cNvPr>
          <p:cNvSpPr txBox="1"/>
          <p:nvPr/>
        </p:nvSpPr>
        <p:spPr>
          <a:xfrm>
            <a:off x="914400" y="431800"/>
            <a:ext cx="660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研究背景与问题定义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F34E1C-F906-5A27-B243-33CE02DEC8AF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股票并不是彼此独立变化的，企业之间存在供应链、竞争、投资与合作等联系。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3CB7C3-0F64-95E7-8C3D-D5F9199DF91C}"/>
              </a:ext>
            </a:extLst>
          </p:cNvPr>
          <p:cNvSpPr txBox="1"/>
          <p:nvPr/>
        </p:nvSpPr>
        <p:spPr>
          <a:xfrm>
            <a:off x="1016000" y="23241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这些联系会带来信息传导和风险传导，因此可以用“关系图”来辅助预测。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275F79-96ED-F496-C640-F4C9A733FD30}"/>
              </a:ext>
            </a:extLst>
          </p:cNvPr>
          <p:cNvSpPr txBox="1"/>
          <p:nvPr/>
        </p:nvSpPr>
        <p:spPr>
          <a:xfrm>
            <a:off x="1016000" y="31242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图模型的效果高度依赖图结构质量：如果关系图建得太粗糙，后面的模型很难学好。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A9B9EB-792D-CFAC-D97A-23A93D63435C}"/>
              </a:ext>
            </a:extLst>
          </p:cNvPr>
          <p:cNvSpPr txBox="1"/>
          <p:nvPr/>
        </p:nvSpPr>
        <p:spPr>
          <a:xfrm>
            <a:off x="1016000" y="39243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论文要解决的问题是：如何构建一张更接近真实商业世界的股票关系图。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9BD98F1-CD74-C4CF-712C-417873E3C4B5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23EA14-5020-47CA-19D4-4818A84BEDDC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429018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5860A8-9382-8FA8-BFB7-1E0F450C12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305C19BA-8634-BCEF-3B92-538DDEB8719E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3D69BB-9B2C-5DE9-6025-A1FE1EBB4CF5}"/>
              </a:ext>
            </a:extLst>
          </p:cNvPr>
          <p:cNvSpPr txBox="1"/>
          <p:nvPr/>
        </p:nvSpPr>
        <p:spPr>
          <a:xfrm>
            <a:off x="914400" y="431800"/>
            <a:ext cx="660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现有方法的主要不足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D3D82E-94B4-5FB6-543D-7307F478669F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行业分类图（如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GICS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）通常只表达“是否同行业”，语义过于单一。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83A29A-7BBC-2413-B1A1-7E0963F4F43A}"/>
              </a:ext>
            </a:extLst>
          </p:cNvPr>
          <p:cNvSpPr txBox="1"/>
          <p:nvPr/>
        </p:nvSpPr>
        <p:spPr>
          <a:xfrm>
            <a:off x="1016000" y="23241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知识库图（如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Wikidata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）覆盖有限，且真实商业关系未必完整、及时。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795972-F5B8-D3FE-4F6E-589782323FE5}"/>
              </a:ext>
            </a:extLst>
          </p:cNvPr>
          <p:cNvSpPr txBox="1"/>
          <p:nvPr/>
        </p:nvSpPr>
        <p:spPr>
          <a:xfrm>
            <a:off x="1016000" y="31242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只用价格相关性学习出的动态图，更像“共同波动”，不一定等于真实企业关系。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A64105-2B09-4F80-D9FC-BC7B610A7E76}"/>
              </a:ext>
            </a:extLst>
          </p:cNvPr>
          <p:cNvSpPr txBox="1"/>
          <p:nvPr/>
        </p:nvSpPr>
        <p:spPr>
          <a:xfrm>
            <a:off x="1016000" y="39243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因此现有图往往缺少丰富、方向明确、可解释的企业关系结构。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5B816E6-BDB2-8B91-3735-097D15EBF888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DDDD09-5707-5027-94E1-0EDCAAFE917E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2458059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2E89C8-3CB1-F2AC-9A72-97A961056F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0FBEC005-86CC-1948-B421-516D74FADEAD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C87440-6EC4-D262-3881-0EDC7990396E}"/>
              </a:ext>
            </a:extLst>
          </p:cNvPr>
          <p:cNvSpPr txBox="1"/>
          <p:nvPr/>
        </p:nvSpPr>
        <p:spPr>
          <a:xfrm>
            <a:off x="914400" y="431800"/>
            <a:ext cx="660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论文核心思路与贡献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279BBB-AB2D-E0C3-8957-2E4AB0BDAE7C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核心思路：不直接让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预测股价，而是让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先构建“公司关系图”。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72F520-E5FA-4251-3168-CD9FD03FACC9}"/>
              </a:ext>
            </a:extLst>
          </p:cNvPr>
          <p:cNvSpPr txBox="1"/>
          <p:nvPr/>
        </p:nvSpPr>
        <p:spPr>
          <a:xfrm>
            <a:off x="1016000" y="23241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关系图中包含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customer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supplier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competitor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investor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等多种商业关系。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D67073-3445-C906-098F-F50642C9903A}"/>
              </a:ext>
            </a:extLst>
          </p:cNvPr>
          <p:cNvSpPr txBox="1"/>
          <p:nvPr/>
        </p:nvSpPr>
        <p:spPr>
          <a:xfrm>
            <a:off x="1016000" y="31242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然后将这张图交给图神经网络，与股票历史价格特征一起用于排序预测。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BC17BB-5419-E65A-CC0A-C960D9E4F0BC}"/>
              </a:ext>
            </a:extLst>
          </p:cNvPr>
          <p:cNvSpPr txBox="1"/>
          <p:nvPr/>
        </p:nvSpPr>
        <p:spPr>
          <a:xfrm>
            <a:off x="1016000" y="39243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作者声称这是金融预测场景中首次使用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zero-shot LLM extraction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来建图。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2952ADF-AE09-9A6C-A9C8-C14F6D87FBB3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F36E23-CD17-8665-9BAB-3E0F97497EA6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234102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9C828F-00B6-4CD8-2894-80E4134B610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9498EAA7-9573-5E77-6BDE-4F41721F0310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D49C65-6661-8C2A-744E-9390BD2EF3B0}"/>
              </a:ext>
            </a:extLst>
          </p:cNvPr>
          <p:cNvSpPr txBox="1"/>
          <p:nvPr/>
        </p:nvSpPr>
        <p:spPr>
          <a:xfrm>
            <a:off x="914400" y="431800"/>
            <a:ext cx="660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整体方法流程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0FE7D2-A587-E452-8B40-D85BAB5AA5B9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第一步：收集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S&amp;P 500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股票的历史行情与技术指标，作为节点特征。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879CFC-1763-407E-B632-34A5A6A96A1E}"/>
              </a:ext>
            </a:extLst>
          </p:cNvPr>
          <p:cNvSpPr txBox="1"/>
          <p:nvPr/>
        </p:nvSpPr>
        <p:spPr>
          <a:xfrm>
            <a:off x="1016000" y="23241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第二步：通过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为公司抽取多类型商业关系，形成静态多关系图。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CC7301-07DE-0072-31C1-602A0085BB72}"/>
              </a:ext>
            </a:extLst>
          </p:cNvPr>
          <p:cNvSpPr txBox="1"/>
          <p:nvPr/>
        </p:nvSpPr>
        <p:spPr>
          <a:xfrm>
            <a:off x="1016000" y="31242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第三步：将价格特征和关系图送入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RGCN / RGAT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，学习股票表示。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9FDB4A-2DCB-5594-A70E-BD390DC1420E}"/>
              </a:ext>
            </a:extLst>
          </p:cNvPr>
          <p:cNvSpPr txBox="1"/>
          <p:nvPr/>
        </p:nvSpPr>
        <p:spPr>
          <a:xfrm>
            <a:off x="1016000" y="39243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第四步：输出每只股票的分数，并用于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next-day stock ranking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A9F8DE0-0DE4-53AC-0D8A-C15694A8B17C}"/>
              </a:ext>
            </a:extLst>
          </p:cNvPr>
          <p:cNvSpPr/>
          <p:nvPr/>
        </p:nvSpPr>
        <p:spPr>
          <a:xfrm>
            <a:off x="7810500" y="1498600"/>
            <a:ext cx="2667000" cy="73660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B77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FD3092-F292-EC4D-3337-6C4177150B70}"/>
              </a:ext>
            </a:extLst>
          </p:cNvPr>
          <p:cNvSpPr txBox="1"/>
          <p:nvPr/>
        </p:nvSpPr>
        <p:spPr>
          <a:xfrm>
            <a:off x="8013700" y="1612900"/>
            <a:ext cx="2159000" cy="24622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600" b="1">
                <a:solidFill>
                  <a:srgbClr val="34312C"/>
                </a:solidFill>
                <a:latin typeface="Microsoft YaHei" panose="020B0503020204020204" pitchFamily="34" charset="-122"/>
              </a:rPr>
              <a:t>股票历史数据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2FC7BE-41CC-EDAC-B402-AE53EE6BFE98}"/>
              </a:ext>
            </a:extLst>
          </p:cNvPr>
          <p:cNvSpPr txBox="1"/>
          <p:nvPr/>
        </p:nvSpPr>
        <p:spPr>
          <a:xfrm>
            <a:off x="8013700" y="18796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6D655B"/>
                </a:solidFill>
                <a:latin typeface="Microsoft YaHei" panose="020B0503020204020204" pitchFamily="34" charset="-122"/>
              </a:rPr>
              <a:t>OHLCV + </a:t>
            </a:r>
            <a:r>
              <a:rPr lang="zh-CN" altLang="en-US" sz="1100">
                <a:solidFill>
                  <a:srgbClr val="6D655B"/>
                </a:solidFill>
                <a:latin typeface="Microsoft YaHei" panose="020B0503020204020204" pitchFamily="34" charset="-122"/>
              </a:rPr>
              <a:t>技术指标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97A40EE-D1B7-0A90-6974-55E8A29CA6B5}"/>
              </a:ext>
            </a:extLst>
          </p:cNvPr>
          <p:cNvSpPr/>
          <p:nvPr/>
        </p:nvSpPr>
        <p:spPr>
          <a:xfrm>
            <a:off x="7810500" y="2552700"/>
            <a:ext cx="2667000" cy="73660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B77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974B9A7-9B88-62F3-E096-58913366F259}"/>
              </a:ext>
            </a:extLst>
          </p:cNvPr>
          <p:cNvSpPr txBox="1"/>
          <p:nvPr/>
        </p:nvSpPr>
        <p:spPr>
          <a:xfrm>
            <a:off x="8013700" y="2667000"/>
            <a:ext cx="2159000" cy="24622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600" b="1">
                <a:solidFill>
                  <a:srgbClr val="34312C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600" b="1">
                <a:solidFill>
                  <a:srgbClr val="34312C"/>
                </a:solidFill>
                <a:latin typeface="Microsoft YaHei" panose="020B0503020204020204" pitchFamily="34" charset="-122"/>
              </a:rPr>
              <a:t>构图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701D5B-4FB2-304C-5F49-0ECAA9F05C29}"/>
              </a:ext>
            </a:extLst>
          </p:cNvPr>
          <p:cNvSpPr txBox="1"/>
          <p:nvPr/>
        </p:nvSpPr>
        <p:spPr>
          <a:xfrm>
            <a:off x="8013700" y="29337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100">
                <a:solidFill>
                  <a:srgbClr val="6D655B"/>
                </a:solidFill>
                <a:latin typeface="Microsoft YaHei" panose="020B0503020204020204" pitchFamily="34" charset="-122"/>
              </a:rPr>
              <a:t>多关系公司图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5988C5B-3DC2-B765-8D39-66D384B8E741}"/>
              </a:ext>
            </a:extLst>
          </p:cNvPr>
          <p:cNvSpPr/>
          <p:nvPr/>
        </p:nvSpPr>
        <p:spPr>
          <a:xfrm>
            <a:off x="7810500" y="3606800"/>
            <a:ext cx="2667000" cy="73660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B77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6E36A2D-700E-39EA-6078-A1961A8DD464}"/>
              </a:ext>
            </a:extLst>
          </p:cNvPr>
          <p:cNvSpPr txBox="1"/>
          <p:nvPr/>
        </p:nvSpPr>
        <p:spPr>
          <a:xfrm>
            <a:off x="8013700" y="3721100"/>
            <a:ext cx="2159000" cy="24622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600" b="1">
                <a:solidFill>
                  <a:srgbClr val="34312C"/>
                </a:solidFill>
                <a:latin typeface="Microsoft YaHei" panose="020B0503020204020204" pitchFamily="34" charset="-122"/>
              </a:rPr>
              <a:t>RGCN / RGAT</a:t>
            </a:r>
            <a:endParaRPr lang="zh-CN" altLang="en-US" sz="1600" b="1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83755D0-485F-0C98-F2B0-8EC627766F80}"/>
              </a:ext>
            </a:extLst>
          </p:cNvPr>
          <p:cNvSpPr txBox="1"/>
          <p:nvPr/>
        </p:nvSpPr>
        <p:spPr>
          <a:xfrm>
            <a:off x="8013700" y="39878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100">
                <a:solidFill>
                  <a:srgbClr val="6D655B"/>
                </a:solidFill>
                <a:latin typeface="Microsoft YaHei" panose="020B0503020204020204" pitchFamily="34" charset="-122"/>
              </a:rPr>
              <a:t>关系传播编码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06AD640-E620-5C02-8943-68C826A8078E}"/>
              </a:ext>
            </a:extLst>
          </p:cNvPr>
          <p:cNvSpPr/>
          <p:nvPr/>
        </p:nvSpPr>
        <p:spPr>
          <a:xfrm>
            <a:off x="7810500" y="4660900"/>
            <a:ext cx="2667000" cy="73660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B77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79966B-D000-EB7F-89DD-C8EC602B8708}"/>
              </a:ext>
            </a:extLst>
          </p:cNvPr>
          <p:cNvSpPr txBox="1"/>
          <p:nvPr/>
        </p:nvSpPr>
        <p:spPr>
          <a:xfrm>
            <a:off x="8013700" y="4775200"/>
            <a:ext cx="2159000" cy="24622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600" b="1">
                <a:solidFill>
                  <a:srgbClr val="34312C"/>
                </a:solidFill>
                <a:latin typeface="Microsoft YaHei" panose="020B0503020204020204" pitchFamily="34" charset="-122"/>
              </a:rPr>
              <a:t>排序输出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64CF73-5484-8CBA-1B61-365FAA7715EE}"/>
              </a:ext>
            </a:extLst>
          </p:cNvPr>
          <p:cNvSpPr txBox="1"/>
          <p:nvPr/>
        </p:nvSpPr>
        <p:spPr>
          <a:xfrm>
            <a:off x="8013700" y="50419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6D655B"/>
                </a:solidFill>
                <a:latin typeface="Microsoft YaHei" panose="020B0503020204020204" pitchFamily="34" charset="-122"/>
              </a:rPr>
              <a:t>next-day stock ranking</a:t>
            </a:r>
            <a:endParaRPr lang="zh-CN" altLang="en-US" sz="11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1007395-741C-3B8C-3117-EB4FB76CF68C}"/>
              </a:ext>
            </a:extLst>
          </p:cNvPr>
          <p:cNvCxnSpPr/>
          <p:nvPr/>
        </p:nvCxnSpPr>
        <p:spPr>
          <a:xfrm>
            <a:off x="9144000" y="2235200"/>
            <a:ext cx="0" cy="317500"/>
          </a:xfrm>
          <a:prstGeom prst="line">
            <a:avLst/>
          </a:prstGeom>
          <a:ln w="31750">
            <a:solidFill>
              <a:srgbClr val="7B928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1C401E2-CE60-B598-9510-9A2021542636}"/>
              </a:ext>
            </a:extLst>
          </p:cNvPr>
          <p:cNvCxnSpPr/>
          <p:nvPr/>
        </p:nvCxnSpPr>
        <p:spPr>
          <a:xfrm>
            <a:off x="9144000" y="3289300"/>
            <a:ext cx="0" cy="317500"/>
          </a:xfrm>
          <a:prstGeom prst="line">
            <a:avLst/>
          </a:prstGeom>
          <a:ln w="31750">
            <a:solidFill>
              <a:srgbClr val="7B928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CA2F4E-EDB5-ECE2-8896-A0B7D2EC0EB9}"/>
              </a:ext>
            </a:extLst>
          </p:cNvPr>
          <p:cNvCxnSpPr/>
          <p:nvPr/>
        </p:nvCxnSpPr>
        <p:spPr>
          <a:xfrm>
            <a:off x="9144000" y="4343400"/>
            <a:ext cx="0" cy="317500"/>
          </a:xfrm>
          <a:prstGeom prst="line">
            <a:avLst/>
          </a:prstGeom>
          <a:ln w="31750">
            <a:solidFill>
              <a:srgbClr val="7B928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9BAE5CF-20A3-C0E1-F9FE-B7F068E18CF0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BEF4A59-980E-EDB1-A1AE-F715B33EB2CE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2172195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5E98C0-08B6-16E1-0B06-EEA3249C49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4CBFDA35-8A96-B14F-9AB3-01D7D99E64D0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E37F18-DCE3-3BE1-6673-510584263DC2}"/>
              </a:ext>
            </a:extLst>
          </p:cNvPr>
          <p:cNvSpPr txBox="1"/>
          <p:nvPr/>
        </p:nvSpPr>
        <p:spPr>
          <a:xfrm>
            <a:off x="914400" y="431800"/>
            <a:ext cx="660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如何构建股票关系图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AAB24F-CCA5-0DE2-BB6C-AC85B79EA85F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节点是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S&amp;P 500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成分股公司，边表示公司之间的商业关系。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A001FF-4D3F-385C-7839-EC7B2AB9F7D0}"/>
              </a:ext>
            </a:extLst>
          </p:cNvPr>
          <p:cNvSpPr txBox="1"/>
          <p:nvPr/>
        </p:nvSpPr>
        <p:spPr>
          <a:xfrm>
            <a:off x="1016000" y="2324100"/>
            <a:ext cx="5080000" cy="877163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关系类别不是自由生成，而是作者先参考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S&amp;P Global Business Relationship Dataset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预定义。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C6BF70-919A-FF4D-A008-BE3E633AA8D1}"/>
              </a:ext>
            </a:extLst>
          </p:cNvPr>
          <p:cNvSpPr txBox="1"/>
          <p:nvPr/>
        </p:nvSpPr>
        <p:spPr>
          <a:xfrm>
            <a:off x="1016000" y="3124200"/>
            <a:ext cx="5080000" cy="877163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关系类型包括：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customer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supplier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competitor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peer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investor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parent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subsidiary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R&amp;D partner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等。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99D824-D158-1CB7-D01B-01F09AD93D5C}"/>
              </a:ext>
            </a:extLst>
          </p:cNvPr>
          <p:cNvSpPr txBox="1"/>
          <p:nvPr/>
        </p:nvSpPr>
        <p:spPr>
          <a:xfrm>
            <a:off x="1016000" y="39243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因此这不是普通文本生成，而是受约束的关系识别与结构化输出。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E4DDEE1-D14A-A613-8915-D3A26F36545E}"/>
              </a:ext>
            </a:extLst>
          </p:cNvPr>
          <p:cNvSpPr/>
          <p:nvPr/>
        </p:nvSpPr>
        <p:spPr>
          <a:xfrm>
            <a:off x="7429500" y="1422400"/>
            <a:ext cx="876300" cy="304800"/>
          </a:xfrm>
          <a:prstGeom prst="round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91B7C7-B8E7-A5E2-DEC6-BD53DBF44CA6}"/>
              </a:ext>
            </a:extLst>
          </p:cNvPr>
          <p:cNvSpPr txBox="1"/>
          <p:nvPr/>
        </p:nvSpPr>
        <p:spPr>
          <a:xfrm>
            <a:off x="7531100" y="14859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Microsoft YaHei" panose="020B0503020204020204" pitchFamily="34" charset="-122"/>
              </a:rPr>
              <a:t>customer</a:t>
            </a:r>
            <a:endParaRPr lang="zh-CN" altLang="en-US" sz="10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E6831F7-4124-AAD0-F3C0-C8EB0E78E71C}"/>
              </a:ext>
            </a:extLst>
          </p:cNvPr>
          <p:cNvSpPr/>
          <p:nvPr/>
        </p:nvSpPr>
        <p:spPr>
          <a:xfrm>
            <a:off x="8407400" y="1422400"/>
            <a:ext cx="876300" cy="304800"/>
          </a:xfrm>
          <a:prstGeom prst="round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EA2AB8-9112-C6EA-4FAC-EF4B2FE95768}"/>
              </a:ext>
            </a:extLst>
          </p:cNvPr>
          <p:cNvSpPr txBox="1"/>
          <p:nvPr/>
        </p:nvSpPr>
        <p:spPr>
          <a:xfrm>
            <a:off x="8509000" y="14859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Microsoft YaHei" panose="020B0503020204020204" pitchFamily="34" charset="-122"/>
              </a:rPr>
              <a:t>supplier</a:t>
            </a:r>
            <a:endParaRPr lang="zh-CN" altLang="en-US" sz="10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C3402BB-5516-1152-7774-D47725D96804}"/>
              </a:ext>
            </a:extLst>
          </p:cNvPr>
          <p:cNvSpPr/>
          <p:nvPr/>
        </p:nvSpPr>
        <p:spPr>
          <a:xfrm>
            <a:off x="9385300" y="1422400"/>
            <a:ext cx="1041400" cy="304800"/>
          </a:xfrm>
          <a:prstGeom prst="roundRect">
            <a:avLst/>
          </a:prstGeom>
          <a:solidFill>
            <a:srgbClr val="7B92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BA7BAF-EFEA-1483-9740-7BBAE6CFD833}"/>
              </a:ext>
            </a:extLst>
          </p:cNvPr>
          <p:cNvSpPr txBox="1"/>
          <p:nvPr/>
        </p:nvSpPr>
        <p:spPr>
          <a:xfrm>
            <a:off x="9486900" y="14859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Microsoft YaHei" panose="020B0503020204020204" pitchFamily="34" charset="-122"/>
              </a:rPr>
              <a:t>competitor</a:t>
            </a:r>
            <a:endParaRPr lang="zh-CN" altLang="en-US" sz="10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6E02ACC-5A7B-ED37-2FCF-E577BD51077F}"/>
              </a:ext>
            </a:extLst>
          </p:cNvPr>
          <p:cNvSpPr/>
          <p:nvPr/>
        </p:nvSpPr>
        <p:spPr>
          <a:xfrm>
            <a:off x="10528300" y="1422400"/>
            <a:ext cx="558800" cy="304800"/>
          </a:xfrm>
          <a:prstGeom prst="round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B117F0B-81AC-F926-D8A0-A2F9F8675F97}"/>
              </a:ext>
            </a:extLst>
          </p:cNvPr>
          <p:cNvSpPr txBox="1"/>
          <p:nvPr/>
        </p:nvSpPr>
        <p:spPr>
          <a:xfrm>
            <a:off x="10629900" y="14859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Microsoft YaHei" panose="020B0503020204020204" pitchFamily="34" charset="-122"/>
              </a:rPr>
              <a:t>peer</a:t>
            </a:r>
            <a:endParaRPr lang="zh-CN" altLang="en-US" sz="10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6476660-C07E-A128-E8D8-2E299E03891E}"/>
              </a:ext>
            </a:extLst>
          </p:cNvPr>
          <p:cNvSpPr/>
          <p:nvPr/>
        </p:nvSpPr>
        <p:spPr>
          <a:xfrm>
            <a:off x="7429500" y="1905000"/>
            <a:ext cx="876300" cy="304800"/>
          </a:xfrm>
          <a:prstGeom prst="round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58C97FA-F948-C7BC-97FB-4EE0BAD28DDF}"/>
              </a:ext>
            </a:extLst>
          </p:cNvPr>
          <p:cNvSpPr txBox="1"/>
          <p:nvPr/>
        </p:nvSpPr>
        <p:spPr>
          <a:xfrm>
            <a:off x="7531100" y="19685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Microsoft YaHei" panose="020B0503020204020204" pitchFamily="34" charset="-122"/>
              </a:rPr>
              <a:t>investor</a:t>
            </a:r>
            <a:endParaRPr lang="zh-CN" altLang="en-US" sz="10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AA1AB46-660E-9062-5A54-167DCEBD47F6}"/>
              </a:ext>
            </a:extLst>
          </p:cNvPr>
          <p:cNvSpPr/>
          <p:nvPr/>
        </p:nvSpPr>
        <p:spPr>
          <a:xfrm>
            <a:off x="8407400" y="1905000"/>
            <a:ext cx="711200" cy="304800"/>
          </a:xfrm>
          <a:prstGeom prst="round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1BC89F-4916-68BF-6DFD-5E99E7BE3634}"/>
              </a:ext>
            </a:extLst>
          </p:cNvPr>
          <p:cNvSpPr txBox="1"/>
          <p:nvPr/>
        </p:nvSpPr>
        <p:spPr>
          <a:xfrm>
            <a:off x="8509000" y="1968500"/>
            <a:ext cx="584200" cy="153888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Microsoft YaHei" panose="020B0503020204020204" pitchFamily="34" charset="-122"/>
              </a:rPr>
              <a:t>parent</a:t>
            </a:r>
            <a:endParaRPr lang="zh-CN" altLang="en-US" sz="10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23065D6-0161-57B8-717E-2FBB03C079D7}"/>
              </a:ext>
            </a:extLst>
          </p:cNvPr>
          <p:cNvSpPr/>
          <p:nvPr/>
        </p:nvSpPr>
        <p:spPr>
          <a:xfrm>
            <a:off x="9220200" y="1905000"/>
            <a:ext cx="1041400" cy="304800"/>
          </a:xfrm>
          <a:prstGeom prst="round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F1886A1-4577-78AC-7E65-15AFA59F37E9}"/>
              </a:ext>
            </a:extLst>
          </p:cNvPr>
          <p:cNvSpPr txBox="1"/>
          <p:nvPr/>
        </p:nvSpPr>
        <p:spPr>
          <a:xfrm>
            <a:off x="9321800" y="19685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Microsoft YaHei" panose="020B0503020204020204" pitchFamily="34" charset="-122"/>
              </a:rPr>
              <a:t>subsidiary</a:t>
            </a:r>
            <a:endParaRPr lang="zh-CN" altLang="en-US" sz="10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B4A74DE-FCEE-E4D8-42A1-072778A26D58}"/>
              </a:ext>
            </a:extLst>
          </p:cNvPr>
          <p:cNvSpPr/>
          <p:nvPr/>
        </p:nvSpPr>
        <p:spPr>
          <a:xfrm>
            <a:off x="7429500" y="2387600"/>
            <a:ext cx="1117600" cy="304800"/>
          </a:xfrm>
          <a:prstGeom prst="round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0570A7E-4580-E619-9654-B93AD90ED992}"/>
              </a:ext>
            </a:extLst>
          </p:cNvPr>
          <p:cNvSpPr txBox="1"/>
          <p:nvPr/>
        </p:nvSpPr>
        <p:spPr>
          <a:xfrm>
            <a:off x="7531100" y="2451100"/>
            <a:ext cx="990600" cy="153888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Microsoft YaHei" panose="020B0503020204020204" pitchFamily="34" charset="-122"/>
              </a:rPr>
              <a:t>R&amp;D partner</a:t>
            </a:r>
            <a:endParaRPr lang="zh-CN" altLang="en-US" sz="10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F6B9A55-5F66-0B04-C454-16BC2A97D478}"/>
              </a:ext>
            </a:extLst>
          </p:cNvPr>
          <p:cNvSpPr/>
          <p:nvPr/>
        </p:nvSpPr>
        <p:spPr>
          <a:xfrm>
            <a:off x="8648700" y="2387600"/>
            <a:ext cx="1612900" cy="304800"/>
          </a:xfrm>
          <a:prstGeom prst="round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124D20-090B-6CFC-91D8-93EC38986C3C}"/>
              </a:ext>
            </a:extLst>
          </p:cNvPr>
          <p:cNvSpPr txBox="1"/>
          <p:nvPr/>
        </p:nvSpPr>
        <p:spPr>
          <a:xfrm>
            <a:off x="8750300" y="2451100"/>
            <a:ext cx="1485900" cy="153888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Microsoft YaHei" panose="020B0503020204020204" pitchFamily="34" charset="-122"/>
              </a:rPr>
              <a:t>strategic partner</a:t>
            </a:r>
            <a:endParaRPr lang="zh-CN" altLang="en-US" sz="10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0E85C43-D04E-CE2C-2B3A-6495FE90DBC9}"/>
              </a:ext>
            </a:extLst>
          </p:cNvPr>
          <p:cNvSpPr/>
          <p:nvPr/>
        </p:nvSpPr>
        <p:spPr>
          <a:xfrm>
            <a:off x="8229600" y="4267200"/>
            <a:ext cx="203200" cy="203200"/>
          </a:xfrm>
          <a:prstGeom prst="ellipse">
            <a:avLst/>
          </a:prstGeom>
          <a:solidFill>
            <a:srgbClr val="7B92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22CF297-A55C-EAAB-B5C5-DD4982DEFAAA}"/>
              </a:ext>
            </a:extLst>
          </p:cNvPr>
          <p:cNvSpPr txBox="1"/>
          <p:nvPr/>
        </p:nvSpPr>
        <p:spPr>
          <a:xfrm>
            <a:off x="8001000" y="4495800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company i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449AD6D-5AE9-4EDB-45A1-690E13EE3454}"/>
              </a:ext>
            </a:extLst>
          </p:cNvPr>
          <p:cNvSpPr/>
          <p:nvPr/>
        </p:nvSpPr>
        <p:spPr>
          <a:xfrm>
            <a:off x="9779000" y="3962400"/>
            <a:ext cx="203200" cy="203200"/>
          </a:xfrm>
          <a:prstGeom prst="ellipse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5521BA1-ED85-146C-89C1-0E6E4F321973}"/>
              </a:ext>
            </a:extLst>
          </p:cNvPr>
          <p:cNvSpPr txBox="1"/>
          <p:nvPr/>
        </p:nvSpPr>
        <p:spPr>
          <a:xfrm>
            <a:off x="9550400" y="4191000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company j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52ED6DF-00FD-F964-C26B-226BED2CC979}"/>
              </a:ext>
            </a:extLst>
          </p:cNvPr>
          <p:cNvSpPr/>
          <p:nvPr/>
        </p:nvSpPr>
        <p:spPr>
          <a:xfrm>
            <a:off x="10718800" y="4953000"/>
            <a:ext cx="203200" cy="203200"/>
          </a:xfrm>
          <a:prstGeom prst="ellipse">
            <a:avLst/>
          </a:prstGeom>
          <a:solidFill>
            <a:srgbClr val="7B92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45E6756-F83D-C030-45CA-7FB84F2F1110}"/>
              </a:ext>
            </a:extLst>
          </p:cNvPr>
          <p:cNvSpPr txBox="1"/>
          <p:nvPr/>
        </p:nvSpPr>
        <p:spPr>
          <a:xfrm>
            <a:off x="10490200" y="5181600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company k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639485A9-3A22-2770-D656-4079D20C43AD}"/>
              </a:ext>
            </a:extLst>
          </p:cNvPr>
          <p:cNvSpPr/>
          <p:nvPr/>
        </p:nvSpPr>
        <p:spPr>
          <a:xfrm>
            <a:off x="8940800" y="5308600"/>
            <a:ext cx="203200" cy="203200"/>
          </a:xfrm>
          <a:prstGeom prst="ellipse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04120D0-51ED-7D43-8083-9FD236F4E801}"/>
              </a:ext>
            </a:extLst>
          </p:cNvPr>
          <p:cNvSpPr txBox="1"/>
          <p:nvPr/>
        </p:nvSpPr>
        <p:spPr>
          <a:xfrm>
            <a:off x="8712200" y="5537200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company m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2CA5ACF-5E11-A37E-6E5B-471DF1AB3062}"/>
              </a:ext>
            </a:extLst>
          </p:cNvPr>
          <p:cNvCxnSpPr/>
          <p:nvPr/>
        </p:nvCxnSpPr>
        <p:spPr>
          <a:xfrm flipV="1">
            <a:off x="8331200" y="4064000"/>
            <a:ext cx="1549400" cy="304800"/>
          </a:xfrm>
          <a:prstGeom prst="line">
            <a:avLst/>
          </a:prstGeom>
          <a:ln w="17780" cap="flat" cmpd="sng" algn="ctr">
            <a:solidFill>
              <a:srgbClr val="494540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11FCBC5-ACB0-0D73-ECFA-CA55D7385516}"/>
              </a:ext>
            </a:extLst>
          </p:cNvPr>
          <p:cNvCxnSpPr/>
          <p:nvPr/>
        </p:nvCxnSpPr>
        <p:spPr>
          <a:xfrm>
            <a:off x="8331200" y="4368800"/>
            <a:ext cx="2489200" cy="685800"/>
          </a:xfrm>
          <a:prstGeom prst="line">
            <a:avLst/>
          </a:prstGeom>
          <a:ln w="17780" cap="flat" cmpd="sng" algn="ctr">
            <a:solidFill>
              <a:srgbClr val="494540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2287103-B913-8C71-7CD6-98C3273C8324}"/>
              </a:ext>
            </a:extLst>
          </p:cNvPr>
          <p:cNvCxnSpPr/>
          <p:nvPr/>
        </p:nvCxnSpPr>
        <p:spPr>
          <a:xfrm>
            <a:off x="9880600" y="4064000"/>
            <a:ext cx="939800" cy="990600"/>
          </a:xfrm>
          <a:prstGeom prst="line">
            <a:avLst/>
          </a:prstGeom>
          <a:ln w="17780" cap="flat" cmpd="sng" algn="ctr">
            <a:solidFill>
              <a:srgbClr val="494540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E8EC766-38FA-F59D-B4AF-71DB5DE449D4}"/>
              </a:ext>
            </a:extLst>
          </p:cNvPr>
          <p:cNvCxnSpPr/>
          <p:nvPr/>
        </p:nvCxnSpPr>
        <p:spPr>
          <a:xfrm>
            <a:off x="8331200" y="4368800"/>
            <a:ext cx="711200" cy="1041400"/>
          </a:xfrm>
          <a:prstGeom prst="line">
            <a:avLst/>
          </a:prstGeom>
          <a:ln w="17780" cap="flat" cmpd="sng" algn="ctr">
            <a:solidFill>
              <a:srgbClr val="494540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5E9091E4-1EA4-461F-38DC-9399FEC7D23D}"/>
              </a:ext>
            </a:extLst>
          </p:cNvPr>
          <p:cNvCxnSpPr/>
          <p:nvPr/>
        </p:nvCxnSpPr>
        <p:spPr>
          <a:xfrm flipV="1">
            <a:off x="9042400" y="5054600"/>
            <a:ext cx="1778000" cy="355600"/>
          </a:xfrm>
          <a:prstGeom prst="line">
            <a:avLst/>
          </a:prstGeom>
          <a:ln w="17780" cap="flat" cmpd="sng" algn="ctr">
            <a:solidFill>
              <a:srgbClr val="494540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D0E278C-E901-5386-A24D-90D9F3CA0EBD}"/>
              </a:ext>
            </a:extLst>
          </p:cNvPr>
          <p:cNvSpPr txBox="1"/>
          <p:nvPr/>
        </p:nvSpPr>
        <p:spPr>
          <a:xfrm>
            <a:off x="7594600" y="34798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300" b="1">
                <a:solidFill>
                  <a:srgbClr val="34312C"/>
                </a:solidFill>
                <a:latin typeface="Microsoft YaHei" panose="020B0503020204020204" pitchFamily="34" charset="-122"/>
              </a:rPr>
              <a:t>目标：构建一张 </a:t>
            </a:r>
            <a:r>
              <a:rPr lang="en-US" altLang="zh-CN" sz="1300" b="1">
                <a:solidFill>
                  <a:srgbClr val="34312C"/>
                </a:solidFill>
                <a:latin typeface="Microsoft YaHei" panose="020B0503020204020204" pitchFamily="34" charset="-122"/>
              </a:rPr>
              <a:t>multi-relational static graph</a:t>
            </a:r>
            <a:endParaRPr lang="zh-CN" altLang="en-US" sz="1300" b="1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9F2B101-8CD4-7D6F-BF09-3BDA01025612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590B90C-C613-493C-C87B-267DA49AB4C8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111902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75F49D-F497-3A5C-CFE7-5938017ADA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882892B5-D263-EB0F-510C-1AD9F16A2C81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F2601A-0C8C-01D2-E026-5772F664B0AE}"/>
              </a:ext>
            </a:extLst>
          </p:cNvPr>
          <p:cNvSpPr txBox="1"/>
          <p:nvPr/>
        </p:nvSpPr>
        <p:spPr>
          <a:xfrm>
            <a:off x="914400" y="431800"/>
            <a:ext cx="660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Prompt </a:t>
            </a:r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设计与关系筛选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6B3DA8-DACA-4028-AD26-965D432A7906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Prompt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会限定公司范围、限定关系类别，并要求只返回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JSON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结构结果。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09625E-F170-5F00-EA86-CAE7597F4D9D}"/>
              </a:ext>
            </a:extLst>
          </p:cNvPr>
          <p:cNvSpPr txBox="1"/>
          <p:nvPr/>
        </p:nvSpPr>
        <p:spPr>
          <a:xfrm>
            <a:off x="1016000" y="23241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输出形式通常是：给定源公司，找出与其存在某类关系的公司，并按相关度排序。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15327C-38FB-302D-8CE7-6B9F8DE95BB4}"/>
              </a:ext>
            </a:extLst>
          </p:cNvPr>
          <p:cNvSpPr txBox="1"/>
          <p:nvPr/>
        </p:nvSpPr>
        <p:spPr>
          <a:xfrm>
            <a:off x="1016000" y="31242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作者还设置了图级别筛选：若某类关系总边数低于阈值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κ = 200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，则整类删除。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218400-AB19-6817-5E4B-B15095702C2D}"/>
              </a:ext>
            </a:extLst>
          </p:cNvPr>
          <p:cNvSpPr txBox="1"/>
          <p:nvPr/>
        </p:nvSpPr>
        <p:spPr>
          <a:xfrm>
            <a:off x="1016000" y="39243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这一步很关键，它能去掉极稀疏、噪声大的关系，保留更稳健的最终关系图。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336EC57-4621-2DD8-9ACA-830987783728}"/>
              </a:ext>
            </a:extLst>
          </p:cNvPr>
          <p:cNvSpPr/>
          <p:nvPr/>
        </p:nvSpPr>
        <p:spPr>
          <a:xfrm>
            <a:off x="7429500" y="1168400"/>
            <a:ext cx="3835400" cy="2209800"/>
          </a:xfrm>
          <a:prstGeom prst="roundRect">
            <a:avLst/>
          </a:prstGeom>
          <a:solidFill>
            <a:srgbClr val="FAF6EE">
              <a:alpha val="94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6F42A0-88E8-1F9D-FD6B-C94FC5473C6B}"/>
              </a:ext>
            </a:extLst>
          </p:cNvPr>
          <p:cNvSpPr txBox="1"/>
          <p:nvPr/>
        </p:nvSpPr>
        <p:spPr>
          <a:xfrm>
            <a:off x="7645400" y="1371600"/>
            <a:ext cx="3302000" cy="24622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600" b="1">
                <a:solidFill>
                  <a:srgbClr val="B77050"/>
                </a:solidFill>
                <a:latin typeface="Microsoft YaHei" panose="020B0503020204020204" pitchFamily="34" charset="-122"/>
              </a:rPr>
              <a:t>Prompt </a:t>
            </a:r>
            <a:r>
              <a:rPr lang="zh-CN" altLang="en-US" sz="1600" b="1">
                <a:solidFill>
                  <a:srgbClr val="B77050"/>
                </a:solidFill>
                <a:latin typeface="Microsoft YaHei" panose="020B0503020204020204" pitchFamily="34" charset="-122"/>
              </a:rPr>
              <a:t>约束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286252-F4D7-C1DC-67A4-F9962EDCBD53}"/>
              </a:ext>
            </a:extLst>
          </p:cNvPr>
          <p:cNvSpPr txBox="1"/>
          <p:nvPr/>
        </p:nvSpPr>
        <p:spPr>
          <a:xfrm>
            <a:off x="7670800" y="17272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1. Source company: {ticker}</a:t>
            </a:r>
            <a:endParaRPr lang="zh-CN" altLang="en-US" sz="11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021116-6EA6-3D30-0CAB-DA5898F31940}"/>
              </a:ext>
            </a:extLst>
          </p:cNvPr>
          <p:cNvSpPr txBox="1"/>
          <p:nvPr/>
        </p:nvSpPr>
        <p:spPr>
          <a:xfrm>
            <a:off x="7670800" y="20066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2. Relationships: {customer, supplier, ...}</a:t>
            </a:r>
            <a:endParaRPr lang="zh-CN" altLang="en-US" sz="11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9CE474B-3208-26FE-2C06-5F9AFD8933E9}"/>
              </a:ext>
            </a:extLst>
          </p:cNvPr>
          <p:cNvSpPr txBox="1"/>
          <p:nvPr/>
        </p:nvSpPr>
        <p:spPr>
          <a:xfrm>
            <a:off x="7670800" y="22860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100">
                <a:solidFill>
                  <a:srgbClr val="34312C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SP500 </a:t>
            </a:r>
            <a:r>
              <a:rPr lang="zh-CN" altLang="en-US" sz="1100">
                <a:solidFill>
                  <a:srgbClr val="34312C"/>
                </a:solidFill>
                <a:latin typeface="Microsoft YaHei" panose="020B0503020204020204" pitchFamily="34" charset="-122"/>
              </a:rPr>
              <a:t>中找相关公司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33C017-961C-B28A-75B2-C77189C2CB81}"/>
              </a:ext>
            </a:extLst>
          </p:cNvPr>
          <p:cNvSpPr txBox="1"/>
          <p:nvPr/>
        </p:nvSpPr>
        <p:spPr>
          <a:xfrm>
            <a:off x="7670800" y="25654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100">
                <a:solidFill>
                  <a:srgbClr val="34312C"/>
                </a:solidFill>
                <a:latin typeface="Microsoft YaHei" panose="020B0503020204020204" pitchFamily="34" charset="-122"/>
              </a:rPr>
              <a:t>按相关度排序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B00A5FC-F63D-A6F2-8F14-3624B1575564}"/>
              </a:ext>
            </a:extLst>
          </p:cNvPr>
          <p:cNvSpPr txBox="1"/>
          <p:nvPr/>
        </p:nvSpPr>
        <p:spPr>
          <a:xfrm>
            <a:off x="7670800" y="28448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5. Return JSON only</a:t>
            </a:r>
            <a:endParaRPr lang="zh-CN" altLang="en-US" sz="11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432080B-33C4-5D54-FB5A-DDDC8E9F55B5}"/>
              </a:ext>
            </a:extLst>
          </p:cNvPr>
          <p:cNvSpPr/>
          <p:nvPr/>
        </p:nvSpPr>
        <p:spPr>
          <a:xfrm>
            <a:off x="7747000" y="3962400"/>
            <a:ext cx="3175000" cy="4572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7B92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FB57DF-1B02-5D38-1F1F-9ACF65B8F989}"/>
              </a:ext>
            </a:extLst>
          </p:cNvPr>
          <p:cNvSpPr txBox="1"/>
          <p:nvPr/>
        </p:nvSpPr>
        <p:spPr>
          <a:xfrm>
            <a:off x="7924800" y="40894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100">
                <a:solidFill>
                  <a:srgbClr val="34312C"/>
                </a:solidFill>
                <a:latin typeface="Microsoft YaHei" panose="020B0503020204020204" pitchFamily="34" charset="-122"/>
              </a:rPr>
              <a:t>统计每类关系的总边数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404C054-684F-A047-F178-652319EA27F6}"/>
              </a:ext>
            </a:extLst>
          </p:cNvPr>
          <p:cNvCxnSpPr/>
          <p:nvPr/>
        </p:nvCxnSpPr>
        <p:spPr>
          <a:xfrm>
            <a:off x="9334500" y="4419600"/>
            <a:ext cx="0" cy="203200"/>
          </a:xfrm>
          <a:prstGeom prst="line">
            <a:avLst/>
          </a:prstGeom>
          <a:ln w="31750">
            <a:solidFill>
              <a:srgbClr val="B77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8270CB2-7874-D25F-CBAC-B5F925D84FCA}"/>
              </a:ext>
            </a:extLst>
          </p:cNvPr>
          <p:cNvSpPr/>
          <p:nvPr/>
        </p:nvSpPr>
        <p:spPr>
          <a:xfrm>
            <a:off x="7747000" y="4699000"/>
            <a:ext cx="3175000" cy="4572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7B92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826A45-0642-8306-4241-AA4E72E3663C}"/>
              </a:ext>
            </a:extLst>
          </p:cNvPr>
          <p:cNvSpPr txBox="1"/>
          <p:nvPr/>
        </p:nvSpPr>
        <p:spPr>
          <a:xfrm>
            <a:off x="7924800" y="48260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100">
                <a:solidFill>
                  <a:srgbClr val="34312C"/>
                </a:solidFill>
                <a:latin typeface="Microsoft YaHei" panose="020B0503020204020204" pitchFamily="34" charset="-122"/>
              </a:rPr>
              <a:t>若 </a:t>
            </a:r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|E_r| &lt; 200</a:t>
            </a:r>
            <a:r>
              <a:rPr lang="zh-CN" altLang="en-US" sz="1100">
                <a:solidFill>
                  <a:srgbClr val="34312C"/>
                </a:solidFill>
                <a:latin typeface="Microsoft YaHei" panose="020B0503020204020204" pitchFamily="34" charset="-122"/>
              </a:rPr>
              <a:t>，则删除该类关系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28C459A-A5F8-CDBC-642B-1E5EED507106}"/>
              </a:ext>
            </a:extLst>
          </p:cNvPr>
          <p:cNvCxnSpPr/>
          <p:nvPr/>
        </p:nvCxnSpPr>
        <p:spPr>
          <a:xfrm>
            <a:off x="9334500" y="5156200"/>
            <a:ext cx="0" cy="203200"/>
          </a:xfrm>
          <a:prstGeom prst="line">
            <a:avLst/>
          </a:prstGeom>
          <a:ln w="31750">
            <a:solidFill>
              <a:srgbClr val="B77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0E2054D-09C7-B0AF-AD6C-679FD5B2220C}"/>
              </a:ext>
            </a:extLst>
          </p:cNvPr>
          <p:cNvSpPr/>
          <p:nvPr/>
        </p:nvSpPr>
        <p:spPr>
          <a:xfrm>
            <a:off x="7747000" y="5435600"/>
            <a:ext cx="3175000" cy="4572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7B92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1D9A1EA-9AD7-BC79-6ED0-28F3CE1E32C5}"/>
              </a:ext>
            </a:extLst>
          </p:cNvPr>
          <p:cNvSpPr txBox="1"/>
          <p:nvPr/>
        </p:nvSpPr>
        <p:spPr>
          <a:xfrm>
            <a:off x="7924800" y="5562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100">
                <a:solidFill>
                  <a:srgbClr val="34312C"/>
                </a:solidFill>
                <a:latin typeface="Microsoft YaHei" panose="020B0503020204020204" pitchFamily="34" charset="-122"/>
              </a:rPr>
              <a:t>保留更稳定的最终关系图 </a:t>
            </a:r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R_final</a:t>
            </a:r>
            <a:endParaRPr lang="zh-CN" altLang="en-US" sz="11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3073BD9-5C3E-88DB-DC11-F01C3BDACF03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FE0C73C-C76B-2ED9-A2ED-DAF902F0B1AF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241805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4B7277F-AE17-3FD7-2C84-A7A874D423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C2D4C0CF-9864-CED4-48AD-CAFA1BABF1EA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A00066-14F0-4333-0C9E-0AB991688C64}"/>
              </a:ext>
            </a:extLst>
          </p:cNvPr>
          <p:cNvSpPr txBox="1"/>
          <p:nvPr/>
        </p:nvSpPr>
        <p:spPr>
          <a:xfrm>
            <a:off x="914400" y="431800"/>
            <a:ext cx="6604000" cy="861774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预测模型：为什么同时使用 </a:t>
            </a:r>
            <a:r>
              <a:rPr lang="en-US" altLang="zh-CN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RGCN </a:t>
            </a:r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RGAT</a:t>
            </a:r>
            <a:endParaRPr lang="zh-CN" altLang="en-US" sz="2800" b="1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C39563-DAAD-7D1C-3C86-68A9D256BAD0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RGCN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适合处理多关系图：不同关系可以拥有不同参数与聚合方式。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771BF5-3D79-5AF9-958C-24A12B6B0040}"/>
              </a:ext>
            </a:extLst>
          </p:cNvPr>
          <p:cNvSpPr txBox="1"/>
          <p:nvPr/>
        </p:nvSpPr>
        <p:spPr>
          <a:xfrm>
            <a:off x="1016000" y="23241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RGAT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在此基础上加入注意力机制，自动学习不同邻居与不同关系的重要性。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0122AD-8862-E655-5FE6-2DBFA3FD1BAD}"/>
              </a:ext>
            </a:extLst>
          </p:cNvPr>
          <p:cNvSpPr txBox="1"/>
          <p:nvPr/>
        </p:nvSpPr>
        <p:spPr>
          <a:xfrm>
            <a:off x="1016000" y="31242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两种模型共同点是：都把“公司自身历史特征”和“邻居公司的关系信息”结合起来。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315DB8-1FBA-700A-61A3-595C829587E5}"/>
              </a:ext>
            </a:extLst>
          </p:cNvPr>
          <p:cNvSpPr txBox="1"/>
          <p:nvPr/>
        </p:nvSpPr>
        <p:spPr>
          <a:xfrm>
            <a:off x="1016000" y="39243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作者同时验证两种模型，是为了说明收益来自“关系图更好”，而非某个单一模型碰巧有效。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D5699FE-67E5-FABB-936B-14E5C72E06D4}"/>
              </a:ext>
            </a:extLst>
          </p:cNvPr>
          <p:cNvSpPr/>
          <p:nvPr/>
        </p:nvSpPr>
        <p:spPr>
          <a:xfrm>
            <a:off x="7696200" y="1625600"/>
            <a:ext cx="1473200" cy="2082800"/>
          </a:xfrm>
          <a:prstGeom prst="roundRect">
            <a:avLst/>
          </a:prstGeom>
          <a:solidFill>
            <a:srgbClr val="FAF6EE">
              <a:alpha val="96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98295E-47CC-B59E-A062-A1D805009090}"/>
              </a:ext>
            </a:extLst>
          </p:cNvPr>
          <p:cNvSpPr txBox="1"/>
          <p:nvPr/>
        </p:nvSpPr>
        <p:spPr>
          <a:xfrm>
            <a:off x="7899400" y="18288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b="1">
                <a:solidFill>
                  <a:srgbClr val="B77050"/>
                </a:solidFill>
                <a:latin typeface="Microsoft YaHei" panose="020B0503020204020204" pitchFamily="34" charset="-122"/>
              </a:rPr>
              <a:t>RGCN</a:t>
            </a:r>
            <a:endParaRPr lang="zh-CN" altLang="en-US" b="1">
              <a:solidFill>
                <a:srgbClr val="B77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3F2FA4-5AD5-912E-7CA7-418B0A0B7526}"/>
              </a:ext>
            </a:extLst>
          </p:cNvPr>
          <p:cNvSpPr txBox="1"/>
          <p:nvPr/>
        </p:nvSpPr>
        <p:spPr>
          <a:xfrm>
            <a:off x="7899400" y="2260600"/>
            <a:ext cx="10922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100">
                <a:solidFill>
                  <a:srgbClr val="34312C"/>
                </a:solidFill>
                <a:latin typeface="Microsoft YaHei" panose="020B0503020204020204" pitchFamily="34" charset="-122"/>
              </a:rPr>
              <a:t>关系特异参数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2941F9-309B-ACA2-ED03-CD43A8EDE5F7}"/>
              </a:ext>
            </a:extLst>
          </p:cNvPr>
          <p:cNvSpPr txBox="1"/>
          <p:nvPr/>
        </p:nvSpPr>
        <p:spPr>
          <a:xfrm>
            <a:off x="7899400" y="2603500"/>
            <a:ext cx="1092200" cy="338554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• basis decomposition</a:t>
            </a:r>
            <a:endParaRPr lang="zh-CN" altLang="en-US" sz="11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3C4008-CD17-3C9C-6C98-615394452DCF}"/>
              </a:ext>
            </a:extLst>
          </p:cNvPr>
          <p:cNvSpPr txBox="1"/>
          <p:nvPr/>
        </p:nvSpPr>
        <p:spPr>
          <a:xfrm>
            <a:off x="7899400" y="2946400"/>
            <a:ext cx="10922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100">
                <a:solidFill>
                  <a:srgbClr val="34312C"/>
                </a:solidFill>
                <a:latin typeface="Microsoft YaHei" panose="020B0503020204020204" pitchFamily="34" charset="-122"/>
              </a:rPr>
              <a:t>强调稳定聚合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877A170-DABE-6614-BA74-499CF9E96F8D}"/>
              </a:ext>
            </a:extLst>
          </p:cNvPr>
          <p:cNvSpPr/>
          <p:nvPr/>
        </p:nvSpPr>
        <p:spPr>
          <a:xfrm>
            <a:off x="9499600" y="1625600"/>
            <a:ext cx="1473200" cy="2082800"/>
          </a:xfrm>
          <a:prstGeom prst="roundRect">
            <a:avLst/>
          </a:prstGeom>
          <a:solidFill>
            <a:srgbClr val="FAF6EE">
              <a:alpha val="96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CE62A2-97A8-5AB5-7ABE-F8D910A63284}"/>
              </a:ext>
            </a:extLst>
          </p:cNvPr>
          <p:cNvSpPr txBox="1"/>
          <p:nvPr/>
        </p:nvSpPr>
        <p:spPr>
          <a:xfrm>
            <a:off x="9702800" y="18288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b="1">
                <a:solidFill>
                  <a:srgbClr val="7B9286"/>
                </a:solidFill>
                <a:latin typeface="Microsoft YaHei" panose="020B0503020204020204" pitchFamily="34" charset="-122"/>
              </a:rPr>
              <a:t>RGAT</a:t>
            </a:r>
            <a:endParaRPr lang="zh-CN" altLang="en-US" b="1">
              <a:solidFill>
                <a:srgbClr val="7B928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7E15BC0-4CD0-3188-3178-8F03289411FD}"/>
              </a:ext>
            </a:extLst>
          </p:cNvPr>
          <p:cNvSpPr txBox="1"/>
          <p:nvPr/>
        </p:nvSpPr>
        <p:spPr>
          <a:xfrm>
            <a:off x="9702800" y="2260600"/>
            <a:ext cx="1168400" cy="338554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• relation-aware attention</a:t>
            </a:r>
            <a:endParaRPr lang="zh-CN" altLang="en-US" sz="11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0AB6F9-8E74-7990-4BEF-50E00746F33F}"/>
              </a:ext>
            </a:extLst>
          </p:cNvPr>
          <p:cNvSpPr txBox="1"/>
          <p:nvPr/>
        </p:nvSpPr>
        <p:spPr>
          <a:xfrm>
            <a:off x="9702800" y="2603500"/>
            <a:ext cx="11684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100">
                <a:solidFill>
                  <a:srgbClr val="34312C"/>
                </a:solidFill>
                <a:latin typeface="Microsoft YaHei" panose="020B0503020204020204" pitchFamily="34" charset="-122"/>
              </a:rPr>
              <a:t>自动学习权重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2137E3-6C9F-0857-974F-35053DF72E9D}"/>
              </a:ext>
            </a:extLst>
          </p:cNvPr>
          <p:cNvSpPr txBox="1"/>
          <p:nvPr/>
        </p:nvSpPr>
        <p:spPr>
          <a:xfrm>
            <a:off x="9702800" y="2946400"/>
            <a:ext cx="1168400" cy="16927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1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100">
                <a:solidFill>
                  <a:srgbClr val="34312C"/>
                </a:solidFill>
                <a:latin typeface="Microsoft YaHei" panose="020B0503020204020204" pitchFamily="34" charset="-122"/>
              </a:rPr>
              <a:t>关注重要邻居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B6D310C-8AB5-E72A-DF98-1C92B64C9C6E}"/>
              </a:ext>
            </a:extLst>
          </p:cNvPr>
          <p:cNvCxnSpPr/>
          <p:nvPr/>
        </p:nvCxnSpPr>
        <p:spPr>
          <a:xfrm>
            <a:off x="9169400" y="2667000"/>
            <a:ext cx="330200" cy="0"/>
          </a:xfrm>
          <a:prstGeom prst="line">
            <a:avLst/>
          </a:prstGeom>
          <a:ln w="31750">
            <a:solidFill>
              <a:srgbClr val="6D655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3560291-B844-2D0A-55F7-C306CFA92D06}"/>
              </a:ext>
            </a:extLst>
          </p:cNvPr>
          <p:cNvSpPr txBox="1"/>
          <p:nvPr/>
        </p:nvSpPr>
        <p:spPr>
          <a:xfrm>
            <a:off x="7645400" y="4089400"/>
            <a:ext cx="3556000" cy="400110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300">
                <a:solidFill>
                  <a:srgbClr val="6D655B"/>
                </a:solidFill>
                <a:latin typeface="Microsoft YaHei" panose="020B0503020204020204" pitchFamily="34" charset="-122"/>
              </a:rPr>
              <a:t>作者同时用两种骨干模型，是为了证明收益主要来自关系图本身。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B31EAC2-4185-C206-2480-8D37C2E4CA5E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C03BEC6-C240-361D-EFAA-BB5A31D2A5B7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1477390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060D396-90B4-7C3B-F322-645ADA01A92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21AF7C3B-A2A8-321A-F85E-670690774714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D68CE6-5447-DD08-9024-0F60FAD00B7A}"/>
              </a:ext>
            </a:extLst>
          </p:cNvPr>
          <p:cNvSpPr txBox="1"/>
          <p:nvPr/>
        </p:nvSpPr>
        <p:spPr>
          <a:xfrm>
            <a:off x="914400" y="431800"/>
            <a:ext cx="6604000" cy="861774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训练目标：为什么不仅做回归，还要做排序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83113F-4ED1-11DA-49C8-A9A9F3280654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论文将任务定义为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learning to rank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，而不是只预测具体收益值。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B14700-90E4-62E0-1AD1-7BBAE2C00A0A}"/>
              </a:ext>
            </a:extLst>
          </p:cNvPr>
          <p:cNvSpPr txBox="1"/>
          <p:nvPr/>
        </p:nvSpPr>
        <p:spPr>
          <a:xfrm>
            <a:off x="1016000" y="23241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损失函数由两部分组成：回归损失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Lreg +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排序损失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Lrank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EECFA38-9D82-5A8C-7C51-8D2EDA90D242}"/>
              </a:ext>
            </a:extLst>
          </p:cNvPr>
          <p:cNvSpPr txBox="1"/>
          <p:nvPr/>
        </p:nvSpPr>
        <p:spPr>
          <a:xfrm>
            <a:off x="1016000" y="31242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Lreg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负责让预测值接近真实收益；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Lrank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负责惩罚“把差股票排在好股票前面”的情况。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3C762A-012F-E2D9-9D75-EB9E42F0F86F}"/>
              </a:ext>
            </a:extLst>
          </p:cNvPr>
          <p:cNvSpPr txBox="1"/>
          <p:nvPr/>
        </p:nvSpPr>
        <p:spPr>
          <a:xfrm>
            <a:off x="1016000" y="39243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这更符合投资场景，因为选股时通常更关心排序是否正确。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10602F-6F85-5E22-3BA9-7FF2E3010008}"/>
              </a:ext>
            </a:extLst>
          </p:cNvPr>
          <p:cNvSpPr txBox="1"/>
          <p:nvPr/>
        </p:nvSpPr>
        <p:spPr>
          <a:xfrm>
            <a:off x="7518400" y="15240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2400" b="1">
                <a:solidFill>
                  <a:srgbClr val="B77050"/>
                </a:solidFill>
                <a:latin typeface="Cambria" panose="02040503050406030204" pitchFamily="18" charset="0"/>
              </a:rPr>
              <a:t>L = Lreg + </a:t>
            </a:r>
            <a:r>
              <a:rPr lang="el-GR" altLang="zh-CN" sz="2400" b="1">
                <a:solidFill>
                  <a:srgbClr val="B77050"/>
                </a:solidFill>
                <a:latin typeface="Cambria" panose="02040503050406030204" pitchFamily="18" charset="0"/>
              </a:rPr>
              <a:t>φ · </a:t>
            </a:r>
            <a:r>
              <a:rPr lang="en-US" altLang="zh-CN" sz="2400" b="1">
                <a:solidFill>
                  <a:srgbClr val="B77050"/>
                </a:solidFill>
                <a:latin typeface="Cambria" panose="02040503050406030204" pitchFamily="18" charset="0"/>
              </a:rPr>
              <a:t>Lrank</a:t>
            </a:r>
            <a:endParaRPr lang="zh-CN" altLang="en-US" sz="2400" b="1">
              <a:solidFill>
                <a:srgbClr val="B77050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A0FAED-96DA-0ED2-B064-551DB1ED927A}"/>
              </a:ext>
            </a:extLst>
          </p:cNvPr>
          <p:cNvSpPr txBox="1"/>
          <p:nvPr/>
        </p:nvSpPr>
        <p:spPr>
          <a:xfrm>
            <a:off x="7518400" y="1981200"/>
            <a:ext cx="355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200">
                <a:solidFill>
                  <a:srgbClr val="6D655B"/>
                </a:solidFill>
                <a:latin typeface="Microsoft YaHei" panose="020B0503020204020204" pitchFamily="34" charset="-122"/>
              </a:rPr>
              <a:t>其中 </a:t>
            </a:r>
            <a:r>
              <a:rPr lang="el-GR" altLang="zh-CN" sz="1200">
                <a:solidFill>
                  <a:srgbClr val="6D655B"/>
                </a:solidFill>
                <a:latin typeface="Microsoft YaHei" panose="020B0503020204020204" pitchFamily="34" charset="-122"/>
              </a:rPr>
              <a:t>φ = 0.5</a:t>
            </a:r>
            <a:endParaRPr lang="zh-CN" altLang="en-US" sz="12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6AD432-5A60-71C3-6FF7-5BB4B20A0C7C}"/>
              </a:ext>
            </a:extLst>
          </p:cNvPr>
          <p:cNvSpPr/>
          <p:nvPr/>
        </p:nvSpPr>
        <p:spPr>
          <a:xfrm>
            <a:off x="7645400" y="2692400"/>
            <a:ext cx="1473200" cy="1701800"/>
          </a:xfrm>
          <a:prstGeom prst="roundRect">
            <a:avLst/>
          </a:prstGeom>
          <a:solidFill>
            <a:srgbClr val="FAF6EE">
              <a:alpha val="94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63A813A-C200-9C11-F113-F67BEEA7016F}"/>
              </a:ext>
            </a:extLst>
          </p:cNvPr>
          <p:cNvSpPr/>
          <p:nvPr/>
        </p:nvSpPr>
        <p:spPr>
          <a:xfrm>
            <a:off x="9499600" y="2692400"/>
            <a:ext cx="1473200" cy="1701800"/>
          </a:xfrm>
          <a:prstGeom prst="roundRect">
            <a:avLst/>
          </a:prstGeom>
          <a:solidFill>
            <a:srgbClr val="FAF6EE">
              <a:alpha val="94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AFCBB91-40CD-B90C-F101-19EB836E8071}"/>
              </a:ext>
            </a:extLst>
          </p:cNvPr>
          <p:cNvSpPr txBox="1"/>
          <p:nvPr/>
        </p:nvSpPr>
        <p:spPr>
          <a:xfrm>
            <a:off x="7848600" y="28702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500" b="1">
                <a:solidFill>
                  <a:srgbClr val="7B9286"/>
                </a:solidFill>
                <a:latin typeface="Microsoft YaHei" panose="020B0503020204020204" pitchFamily="34" charset="-122"/>
              </a:rPr>
              <a:t>真实排序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4F824C-8BD3-7738-2B0A-880839FA66A0}"/>
              </a:ext>
            </a:extLst>
          </p:cNvPr>
          <p:cNvSpPr txBox="1"/>
          <p:nvPr/>
        </p:nvSpPr>
        <p:spPr>
          <a:xfrm>
            <a:off x="9702800" y="28702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500" b="1">
                <a:solidFill>
                  <a:srgbClr val="B77050"/>
                </a:solidFill>
                <a:latin typeface="Microsoft YaHei" panose="020B0503020204020204" pitchFamily="34" charset="-122"/>
              </a:rPr>
              <a:t>预测排序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9CF9EE-0C66-312B-3661-64052078B69C}"/>
              </a:ext>
            </a:extLst>
          </p:cNvPr>
          <p:cNvSpPr txBox="1"/>
          <p:nvPr/>
        </p:nvSpPr>
        <p:spPr>
          <a:xfrm>
            <a:off x="7950200" y="3251200"/>
            <a:ext cx="889000" cy="492443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600" b="1">
                <a:solidFill>
                  <a:srgbClr val="34312C"/>
                </a:solidFill>
                <a:latin typeface="Microsoft YaHei" panose="020B0503020204020204" pitchFamily="34" charset="-122"/>
              </a:rPr>
              <a:t>A &gt; B &gt; C</a:t>
            </a:r>
            <a:endParaRPr lang="zh-CN" altLang="en-US" sz="1600" b="1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1BC48B4-AB57-5849-7123-7056B76722ED}"/>
              </a:ext>
            </a:extLst>
          </p:cNvPr>
          <p:cNvSpPr txBox="1"/>
          <p:nvPr/>
        </p:nvSpPr>
        <p:spPr>
          <a:xfrm>
            <a:off x="9804400" y="3251200"/>
            <a:ext cx="889000" cy="492443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600" b="1">
                <a:solidFill>
                  <a:srgbClr val="34312C"/>
                </a:solidFill>
                <a:latin typeface="Microsoft YaHei" panose="020B0503020204020204" pitchFamily="34" charset="-122"/>
              </a:rPr>
              <a:t>B &gt; A &gt; C</a:t>
            </a:r>
            <a:endParaRPr lang="zh-CN" altLang="en-US" sz="1600" b="1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501099-99E9-529D-20FD-9BDF41CEB633}"/>
              </a:ext>
            </a:extLst>
          </p:cNvPr>
          <p:cNvSpPr txBox="1"/>
          <p:nvPr/>
        </p:nvSpPr>
        <p:spPr>
          <a:xfrm>
            <a:off x="7823200" y="3708400"/>
            <a:ext cx="1168400" cy="50783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100">
                <a:solidFill>
                  <a:srgbClr val="6D655B"/>
                </a:solidFill>
                <a:latin typeface="Microsoft YaHei" panose="020B0503020204020204" pitchFamily="34" charset="-122"/>
              </a:rPr>
              <a:t>若排序颠倒，</a:t>
            </a:r>
            <a:r>
              <a:rPr lang="en-US" altLang="zh-CN" sz="1100">
                <a:solidFill>
                  <a:srgbClr val="6D655B"/>
                </a:solidFill>
                <a:latin typeface="Microsoft YaHei" panose="020B0503020204020204" pitchFamily="34" charset="-122"/>
              </a:rPr>
              <a:t>Lrank </a:t>
            </a:r>
            <a:r>
              <a:rPr lang="zh-CN" altLang="en-US" sz="1100">
                <a:solidFill>
                  <a:srgbClr val="6D655B"/>
                </a:solidFill>
                <a:latin typeface="Microsoft YaHei" panose="020B0503020204020204" pitchFamily="34" charset="-122"/>
              </a:rPr>
              <a:t>会惩罚这种错误。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A869E85-997D-F4EE-2C9E-9E30FC0C6C7F}"/>
              </a:ext>
            </a:extLst>
          </p:cNvPr>
          <p:cNvSpPr txBox="1"/>
          <p:nvPr/>
        </p:nvSpPr>
        <p:spPr>
          <a:xfrm>
            <a:off x="7645400" y="4775200"/>
            <a:ext cx="3581400" cy="400110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300">
                <a:solidFill>
                  <a:srgbClr val="6D655B"/>
                </a:solidFill>
                <a:latin typeface="Microsoft YaHei" panose="020B0503020204020204" pitchFamily="34" charset="-122"/>
              </a:rPr>
              <a:t>直观理解：这类损失强调“谁应该排在前面”，比单纯拟合收益数值更符合选股任务。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5939BD3-3581-0080-2D18-5B555170B47F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DA84EA-3492-E983-BEB9-43542284AA93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63712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C3E616-BBBC-C9B5-FEEC-E3A7137476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1B14E56A-A12E-7585-0AA9-5F8A89D8248F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39C8AC-E674-1613-0987-8BC46E4AC024}"/>
              </a:ext>
            </a:extLst>
          </p:cNvPr>
          <p:cNvSpPr txBox="1"/>
          <p:nvPr/>
        </p:nvSpPr>
        <p:spPr>
          <a:xfrm>
            <a:off x="914400" y="431800"/>
            <a:ext cx="660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实验设置与对比基线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27333E-2C42-7F7B-E4D0-55F71AB9EF50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数据来自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S&amp;P 500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，使用日频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OHLCV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，并加入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MA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RSI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MACD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等技术指标。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AE7A5F-3092-F637-E9F0-809F9143F6CA}"/>
              </a:ext>
            </a:extLst>
          </p:cNvPr>
          <p:cNvSpPr txBox="1"/>
          <p:nvPr/>
        </p:nvSpPr>
        <p:spPr>
          <a:xfrm>
            <a:off x="1016000" y="23241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样本筛选后共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452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只股票；时间划分为训练、验证、测试三段。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1A65AA-BF76-5532-64EF-0F5AEDB02548}"/>
              </a:ext>
            </a:extLst>
          </p:cNvPr>
          <p:cNvSpPr txBox="1"/>
          <p:nvPr/>
        </p:nvSpPr>
        <p:spPr>
          <a:xfrm>
            <a:off x="1016000" y="31242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测试期为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2023/10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至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2024/12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，用于评估未来未见数据上的泛化能力。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01A2C5-884F-AD61-BF23-9F585A78B936}"/>
              </a:ext>
            </a:extLst>
          </p:cNvPr>
          <p:cNvSpPr txBox="1"/>
          <p:nvPr/>
        </p:nvSpPr>
        <p:spPr>
          <a:xfrm>
            <a:off x="1016000" y="39243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对比基线包括：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GICS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行业分类图，以及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Wikidata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公司关系图。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52919D-D7F3-750D-4D5D-C02023846081}"/>
              </a:ext>
            </a:extLst>
          </p:cNvPr>
          <p:cNvSpPr txBox="1"/>
          <p:nvPr/>
        </p:nvSpPr>
        <p:spPr>
          <a:xfrm>
            <a:off x="7543800" y="14478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500" b="1">
                <a:solidFill>
                  <a:srgbClr val="34312C"/>
                </a:solidFill>
                <a:latin typeface="Microsoft YaHei" panose="020B0503020204020204" pitchFamily="34" charset="-122"/>
              </a:rPr>
              <a:t>Chronological Split</a:t>
            </a:r>
            <a:endParaRPr lang="zh-CN" altLang="en-US" sz="1500" b="1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8B4361-F4EE-A600-6C2C-8FBEC7C34A45}"/>
              </a:ext>
            </a:extLst>
          </p:cNvPr>
          <p:cNvSpPr/>
          <p:nvPr/>
        </p:nvSpPr>
        <p:spPr>
          <a:xfrm>
            <a:off x="7721600" y="4292600"/>
            <a:ext cx="2108200" cy="228600"/>
          </a:xfrm>
          <a:prstGeom prst="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4E73DB-4F32-FD2F-26B7-7B5B7B77FED3}"/>
              </a:ext>
            </a:extLst>
          </p:cNvPr>
          <p:cNvSpPr txBox="1"/>
          <p:nvPr/>
        </p:nvSpPr>
        <p:spPr>
          <a:xfrm>
            <a:off x="7721600" y="36576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200" b="1">
                <a:solidFill>
                  <a:srgbClr val="34312C"/>
                </a:solidFill>
                <a:latin typeface="Microsoft YaHei" panose="020B0503020204020204" pitchFamily="34" charset="-122"/>
              </a:rPr>
              <a:t>Train</a:t>
            </a:r>
            <a:endParaRPr lang="zh-CN" altLang="en-US" sz="1200" b="1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DC75CF-DF93-7FC9-F453-21B47C0EE2A4}"/>
              </a:ext>
            </a:extLst>
          </p:cNvPr>
          <p:cNvSpPr txBox="1"/>
          <p:nvPr/>
        </p:nvSpPr>
        <p:spPr>
          <a:xfrm>
            <a:off x="7696200" y="45720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900">
                <a:solidFill>
                  <a:srgbClr val="6D655B"/>
                </a:solidFill>
                <a:latin typeface="Microsoft YaHei" panose="020B0503020204020204" pitchFamily="34" charset="-122"/>
              </a:rPr>
              <a:t>2012/07 - 2022/06</a:t>
            </a:r>
            <a:endParaRPr lang="zh-CN" altLang="en-US" sz="9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32DAA5-63CA-AF74-3757-D1DA2A66DC52}"/>
              </a:ext>
            </a:extLst>
          </p:cNvPr>
          <p:cNvSpPr/>
          <p:nvPr/>
        </p:nvSpPr>
        <p:spPr>
          <a:xfrm>
            <a:off x="9829800" y="4292600"/>
            <a:ext cx="889000" cy="228600"/>
          </a:xfrm>
          <a:prstGeom prst="rect">
            <a:avLst/>
          </a:prstGeom>
          <a:solidFill>
            <a:srgbClr val="7B92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6D25BC-F650-8AF0-3836-B115A661CCCC}"/>
              </a:ext>
            </a:extLst>
          </p:cNvPr>
          <p:cNvSpPr txBox="1"/>
          <p:nvPr/>
        </p:nvSpPr>
        <p:spPr>
          <a:xfrm>
            <a:off x="9829800" y="36576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200" b="1">
                <a:solidFill>
                  <a:srgbClr val="34312C"/>
                </a:solidFill>
                <a:latin typeface="Microsoft YaHei" panose="020B0503020204020204" pitchFamily="34" charset="-122"/>
              </a:rPr>
              <a:t>Valid</a:t>
            </a:r>
            <a:endParaRPr lang="zh-CN" altLang="en-US" sz="1200" b="1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2614D1C-423A-C101-165F-057AEF212C1E}"/>
              </a:ext>
            </a:extLst>
          </p:cNvPr>
          <p:cNvSpPr txBox="1"/>
          <p:nvPr/>
        </p:nvSpPr>
        <p:spPr>
          <a:xfrm>
            <a:off x="9804400" y="45720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900">
                <a:solidFill>
                  <a:srgbClr val="6D655B"/>
                </a:solidFill>
                <a:latin typeface="Microsoft YaHei" panose="020B0503020204020204" pitchFamily="34" charset="-122"/>
              </a:rPr>
              <a:t>2022/07 - 2023/09</a:t>
            </a:r>
            <a:endParaRPr lang="zh-CN" altLang="en-US" sz="9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85E5DB-F6AE-A7C4-12E2-07182C4CDA68}"/>
              </a:ext>
            </a:extLst>
          </p:cNvPr>
          <p:cNvSpPr/>
          <p:nvPr/>
        </p:nvSpPr>
        <p:spPr>
          <a:xfrm>
            <a:off x="10718800" y="4292600"/>
            <a:ext cx="1066800" cy="228600"/>
          </a:xfrm>
          <a:prstGeom prst="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4812F8C-3ACB-808A-E8E1-213B346C5A71}"/>
              </a:ext>
            </a:extLst>
          </p:cNvPr>
          <p:cNvSpPr txBox="1"/>
          <p:nvPr/>
        </p:nvSpPr>
        <p:spPr>
          <a:xfrm>
            <a:off x="10718800" y="36576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200" b="1">
                <a:solidFill>
                  <a:srgbClr val="34312C"/>
                </a:solidFill>
                <a:latin typeface="Microsoft YaHei" panose="020B0503020204020204" pitchFamily="34" charset="-122"/>
              </a:rPr>
              <a:t>Test</a:t>
            </a:r>
            <a:endParaRPr lang="zh-CN" altLang="en-US" sz="1200" b="1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3D1F1D-CE4F-8097-D625-2689C34C399E}"/>
              </a:ext>
            </a:extLst>
          </p:cNvPr>
          <p:cNvSpPr txBox="1"/>
          <p:nvPr/>
        </p:nvSpPr>
        <p:spPr>
          <a:xfrm>
            <a:off x="10693400" y="45720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900">
                <a:solidFill>
                  <a:srgbClr val="6D655B"/>
                </a:solidFill>
                <a:latin typeface="Microsoft YaHei" panose="020B0503020204020204" pitchFamily="34" charset="-122"/>
              </a:rPr>
              <a:t>2023/10 - 2024/12</a:t>
            </a:r>
            <a:endParaRPr lang="zh-CN" altLang="en-US" sz="9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8A17C0-C225-F3EA-C4AD-0350549BAC45}"/>
              </a:ext>
            </a:extLst>
          </p:cNvPr>
          <p:cNvSpPr txBox="1"/>
          <p:nvPr/>
        </p:nvSpPr>
        <p:spPr>
          <a:xfrm>
            <a:off x="7543800" y="4953000"/>
            <a:ext cx="3683000" cy="400110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300">
                <a:solidFill>
                  <a:srgbClr val="6D655B"/>
                </a:solidFill>
                <a:latin typeface="Microsoft YaHei" panose="020B0503020204020204" pitchFamily="34" charset="-122"/>
              </a:rPr>
              <a:t>测试集落在 </a:t>
            </a:r>
            <a:r>
              <a:rPr lang="en-US" altLang="zh-CN" sz="1300">
                <a:solidFill>
                  <a:srgbClr val="6D655B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300">
                <a:solidFill>
                  <a:srgbClr val="6D655B"/>
                </a:solidFill>
                <a:latin typeface="Microsoft YaHei" panose="020B0503020204020204" pitchFamily="34" charset="-122"/>
              </a:rPr>
              <a:t>知识截止时间之后，强调对未来数据的泛化能力。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C9EFFAC-100B-1A24-D577-3C97D082B748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A7314EE-AC45-1EB1-F063-DD56D86DD83F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4052364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76E680-D625-A318-E210-A0EB5716F32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9FFA516C-4CEA-5A22-FE9D-482D2004D7CA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EDF734-FDCB-A1D4-A6D7-C152C76013CE}"/>
              </a:ext>
            </a:extLst>
          </p:cNvPr>
          <p:cNvSpPr txBox="1"/>
          <p:nvPr/>
        </p:nvSpPr>
        <p:spPr>
          <a:xfrm>
            <a:off x="914400" y="431800"/>
            <a:ext cx="660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关系图质量分析：</a:t>
            </a:r>
            <a:r>
              <a:rPr lang="en-US" altLang="zh-CN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图到底好在哪里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FFD21F-04E6-70FC-95F2-33A05AC58265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LLM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图最终保留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类关系，而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GICS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Wikidata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各只有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类关系。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BFFB4D-D341-EB23-95D5-266F74742896}"/>
              </a:ext>
            </a:extLst>
          </p:cNvPr>
          <p:cNvSpPr txBox="1"/>
          <p:nvPr/>
        </p:nvSpPr>
        <p:spPr>
          <a:xfrm>
            <a:off x="1016000" y="23241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LLM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图覆盖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452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家公司，与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GICS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相同，高于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Wikidata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358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家。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C2014C-85BD-B037-CA11-C543D3EC39DD}"/>
              </a:ext>
            </a:extLst>
          </p:cNvPr>
          <p:cNvSpPr txBox="1"/>
          <p:nvPr/>
        </p:nvSpPr>
        <p:spPr>
          <a:xfrm>
            <a:off x="1016000" y="31242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它既有较好的连通性，又允许存在有向边，能表达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supplier → customer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这类非对称关系。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8C71D5-C630-0D86-86EB-A55DCBC29B34}"/>
              </a:ext>
            </a:extLst>
          </p:cNvPr>
          <p:cNvSpPr txBox="1"/>
          <p:nvPr/>
        </p:nvSpPr>
        <p:spPr>
          <a:xfrm>
            <a:off x="1016000" y="39243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也就是说，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图在关系多样性、覆盖率和结构真实性上都更强。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E623FD-8A09-18D4-2906-8CD68B3A98E8}"/>
              </a:ext>
            </a:extLst>
          </p:cNvPr>
          <p:cNvSpPr txBox="1"/>
          <p:nvPr/>
        </p:nvSpPr>
        <p:spPr>
          <a:xfrm>
            <a:off x="7518400" y="1778000"/>
            <a:ext cx="3810000" cy="261610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700" b="1">
                <a:solidFill>
                  <a:srgbClr val="B77050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700" b="1">
                <a:solidFill>
                  <a:srgbClr val="B77050"/>
                </a:solidFill>
                <a:latin typeface="Microsoft YaHei" panose="020B0503020204020204" pitchFamily="34" charset="-122"/>
              </a:rPr>
              <a:t>图的核心优势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31BED3-7DDC-0E7A-B268-24E4F867E1CD}"/>
              </a:ext>
            </a:extLst>
          </p:cNvPr>
          <p:cNvSpPr txBox="1"/>
          <p:nvPr/>
        </p:nvSpPr>
        <p:spPr>
          <a:xfrm>
            <a:off x="7518400" y="21844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2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4312C"/>
                </a:solidFill>
                <a:latin typeface="Microsoft YaHei" panose="020B0503020204020204" pitchFamily="34" charset="-122"/>
              </a:rPr>
              <a:t>关系类型更多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D95D07-16BF-7E10-A581-8000BC0CEA31}"/>
              </a:ext>
            </a:extLst>
          </p:cNvPr>
          <p:cNvSpPr txBox="1"/>
          <p:nvPr/>
        </p:nvSpPr>
        <p:spPr>
          <a:xfrm>
            <a:off x="7518400" y="24892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2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4312C"/>
                </a:solidFill>
                <a:latin typeface="Microsoft YaHei" panose="020B0503020204020204" pitchFamily="34" charset="-122"/>
              </a:rPr>
              <a:t>覆盖更完整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7CF5F7-FEC2-8611-216E-961FA3BD559D}"/>
              </a:ext>
            </a:extLst>
          </p:cNvPr>
          <p:cNvSpPr txBox="1"/>
          <p:nvPr/>
        </p:nvSpPr>
        <p:spPr>
          <a:xfrm>
            <a:off x="7518400" y="27940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2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4312C"/>
                </a:solidFill>
                <a:latin typeface="Microsoft YaHei" panose="020B0503020204020204" pitchFamily="34" charset="-122"/>
              </a:rPr>
              <a:t>支持有向、非对称关系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518D093-087E-3A91-BC04-D89BDAF145F0}"/>
              </a:ext>
            </a:extLst>
          </p:cNvPr>
          <p:cNvSpPr/>
          <p:nvPr/>
        </p:nvSpPr>
        <p:spPr>
          <a:xfrm>
            <a:off x="7874000" y="4216400"/>
            <a:ext cx="558800" cy="914400"/>
          </a:xfrm>
          <a:prstGeom prst="round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B70BDD-BBA1-78DE-4F09-0508DDA6B97D}"/>
              </a:ext>
            </a:extLst>
          </p:cNvPr>
          <p:cNvSpPr txBox="1"/>
          <p:nvPr/>
        </p:nvSpPr>
        <p:spPr>
          <a:xfrm>
            <a:off x="7797800" y="52070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900">
                <a:solidFill>
                  <a:srgbClr val="34312C"/>
                </a:solidFill>
                <a:latin typeface="Microsoft YaHei" panose="020B0503020204020204" pitchFamily="34" charset="-122"/>
              </a:rPr>
              <a:t>Wikidata</a:t>
            </a:r>
            <a:endParaRPr lang="zh-CN" altLang="en-US" sz="9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7BC3FB4-031D-9055-E421-5D30C30F9373}"/>
              </a:ext>
            </a:extLst>
          </p:cNvPr>
          <p:cNvSpPr txBox="1"/>
          <p:nvPr/>
        </p:nvSpPr>
        <p:spPr>
          <a:xfrm>
            <a:off x="7848600" y="5410200"/>
            <a:ext cx="7874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R=4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E1EAECB-B20B-6DBF-F3A3-0C7EBE7ACD92}"/>
              </a:ext>
            </a:extLst>
          </p:cNvPr>
          <p:cNvSpPr txBox="1"/>
          <p:nvPr/>
        </p:nvSpPr>
        <p:spPr>
          <a:xfrm>
            <a:off x="7772400" y="5562600"/>
            <a:ext cx="9144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Nodes=358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FC13680-C963-77B9-A636-352FB9FB002F}"/>
              </a:ext>
            </a:extLst>
          </p:cNvPr>
          <p:cNvSpPr/>
          <p:nvPr/>
        </p:nvSpPr>
        <p:spPr>
          <a:xfrm>
            <a:off x="8953500" y="3200400"/>
            <a:ext cx="558800" cy="1930400"/>
          </a:xfrm>
          <a:prstGeom prst="roundRect">
            <a:avLst/>
          </a:prstGeom>
          <a:solidFill>
            <a:srgbClr val="7B92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CF6EE1B-F42B-17BC-3D58-77CCBD21CD78}"/>
              </a:ext>
            </a:extLst>
          </p:cNvPr>
          <p:cNvSpPr txBox="1"/>
          <p:nvPr/>
        </p:nvSpPr>
        <p:spPr>
          <a:xfrm>
            <a:off x="8877300" y="52070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900">
                <a:solidFill>
                  <a:srgbClr val="34312C"/>
                </a:solidFill>
                <a:latin typeface="Microsoft YaHei" panose="020B0503020204020204" pitchFamily="34" charset="-122"/>
              </a:rPr>
              <a:t>GICS</a:t>
            </a:r>
            <a:endParaRPr lang="zh-CN" altLang="en-US" sz="9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E49E48-2756-179C-CE6F-E2320659E501}"/>
              </a:ext>
            </a:extLst>
          </p:cNvPr>
          <p:cNvSpPr txBox="1"/>
          <p:nvPr/>
        </p:nvSpPr>
        <p:spPr>
          <a:xfrm>
            <a:off x="8928100" y="5410200"/>
            <a:ext cx="7874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R=4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C6E112-123F-5CEA-A45D-4C4DF04AC386}"/>
              </a:ext>
            </a:extLst>
          </p:cNvPr>
          <p:cNvSpPr txBox="1"/>
          <p:nvPr/>
        </p:nvSpPr>
        <p:spPr>
          <a:xfrm>
            <a:off x="8851900" y="5562600"/>
            <a:ext cx="9144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Nodes=452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E6E66E8-4F01-7702-347E-1353D3FBDDEE}"/>
              </a:ext>
            </a:extLst>
          </p:cNvPr>
          <p:cNvSpPr/>
          <p:nvPr/>
        </p:nvSpPr>
        <p:spPr>
          <a:xfrm>
            <a:off x="10033000" y="3810000"/>
            <a:ext cx="558800" cy="1320800"/>
          </a:xfrm>
          <a:prstGeom prst="round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6A47B66-E6AC-E230-F38B-9A8F004D8A85}"/>
              </a:ext>
            </a:extLst>
          </p:cNvPr>
          <p:cNvSpPr txBox="1"/>
          <p:nvPr/>
        </p:nvSpPr>
        <p:spPr>
          <a:xfrm>
            <a:off x="9956800" y="5207000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900">
                <a:solidFill>
                  <a:srgbClr val="34312C"/>
                </a:solidFill>
                <a:latin typeface="Microsoft YaHei" panose="020B0503020204020204" pitchFamily="34" charset="-122"/>
              </a:rPr>
              <a:t>LLM</a:t>
            </a:r>
            <a:endParaRPr lang="zh-CN" altLang="en-US" sz="9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903983-4022-DF10-2297-29F5408F265C}"/>
              </a:ext>
            </a:extLst>
          </p:cNvPr>
          <p:cNvSpPr txBox="1"/>
          <p:nvPr/>
        </p:nvSpPr>
        <p:spPr>
          <a:xfrm>
            <a:off x="10007600" y="5410200"/>
            <a:ext cx="7874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R=13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7F6225-1CDE-498A-A0AB-A2D9DCCB0FF1}"/>
              </a:ext>
            </a:extLst>
          </p:cNvPr>
          <p:cNvSpPr txBox="1"/>
          <p:nvPr/>
        </p:nvSpPr>
        <p:spPr>
          <a:xfrm>
            <a:off x="9931400" y="5562600"/>
            <a:ext cx="9144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Nodes=452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9E35F01-695A-5824-9A2E-FA86F961FEA7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057718B-45F2-1718-584C-E07633DE9636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3723314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175974-EF35-A069-B5BD-5FAF7F01A3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7556234F-1D3F-2FCF-3849-141D308DD349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F6A603-D9EF-047D-9D19-D4A17110FEE7}"/>
              </a:ext>
            </a:extLst>
          </p:cNvPr>
          <p:cNvSpPr txBox="1"/>
          <p:nvPr/>
        </p:nvSpPr>
        <p:spPr>
          <a:xfrm>
            <a:off x="914400" y="431800"/>
            <a:ext cx="660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下游结果：预测效果与投资表现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B82BFE-0D79-DD74-7A5E-ACB979998588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RGAT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RGCN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两个骨干模型下，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图整体都优于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GICS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Wikidata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12406C-ECB8-C5D9-900E-0B7402821737}"/>
              </a:ext>
            </a:extLst>
          </p:cNvPr>
          <p:cNvSpPr txBox="1"/>
          <p:nvPr/>
        </p:nvSpPr>
        <p:spPr>
          <a:xfrm>
            <a:off x="1016000" y="23241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排序指标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MRR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提升明显，说明模型更容易把真正高表现股票排到前面。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B3A622-7845-82D7-AFF6-DA64711F1E1D}"/>
              </a:ext>
            </a:extLst>
          </p:cNvPr>
          <p:cNvSpPr txBox="1"/>
          <p:nvPr/>
        </p:nvSpPr>
        <p:spPr>
          <a:xfrm>
            <a:off x="1016000" y="31242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模拟交易中，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top-1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top-10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策略的累计收益和 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Sharpe Ratio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也更高。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26FC01-71E2-D0FE-BE2B-4E115D42A5B8}"/>
              </a:ext>
            </a:extLst>
          </p:cNvPr>
          <p:cNvSpPr txBox="1"/>
          <p:nvPr/>
        </p:nvSpPr>
        <p:spPr>
          <a:xfrm>
            <a:off x="1016000" y="39243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因此论文的核心论断是成立的：更好的图结构，能够带来更好的下游金融预测。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2A8015-EAAD-E55E-6F35-E2F303EC1450}"/>
              </a:ext>
            </a:extLst>
          </p:cNvPr>
          <p:cNvSpPr txBox="1"/>
          <p:nvPr/>
        </p:nvSpPr>
        <p:spPr>
          <a:xfrm>
            <a:off x="7518400" y="1498600"/>
            <a:ext cx="3708400" cy="230832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1500" b="1">
                <a:solidFill>
                  <a:srgbClr val="34312C"/>
                </a:solidFill>
                <a:latin typeface="Microsoft YaHei" panose="020B0503020204020204" pitchFamily="34" charset="-122"/>
              </a:rPr>
              <a:t>Top-1 IRR</a:t>
            </a:r>
            <a:r>
              <a:rPr lang="zh-CN" altLang="en-US" sz="1500" b="1">
                <a:solidFill>
                  <a:srgbClr val="34312C"/>
                </a:solidFill>
                <a:latin typeface="Microsoft YaHei" panose="020B0503020204020204" pitchFamily="34" charset="-122"/>
              </a:rPr>
              <a:t>（示意自 </a:t>
            </a:r>
            <a:r>
              <a:rPr lang="en-US" altLang="zh-CN" sz="1500" b="1">
                <a:solidFill>
                  <a:srgbClr val="34312C"/>
                </a:solidFill>
                <a:latin typeface="Microsoft YaHei" panose="020B0503020204020204" pitchFamily="34" charset="-122"/>
              </a:rPr>
              <a:t>Table 1</a:t>
            </a:r>
            <a:r>
              <a:rPr lang="zh-CN" altLang="en-US" sz="1500" b="1">
                <a:solidFill>
                  <a:srgbClr val="34312C"/>
                </a:solidFill>
                <a:latin typeface="Microsoft YaHei" panose="020B0503020204020204" pitchFamily="34" charset="-122"/>
              </a:rPr>
              <a:t>）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A19CC1-F2DF-C858-78C8-A0F0DB7255A7}"/>
              </a:ext>
            </a:extLst>
          </p:cNvPr>
          <p:cNvSpPr/>
          <p:nvPr/>
        </p:nvSpPr>
        <p:spPr>
          <a:xfrm>
            <a:off x="7797800" y="4673600"/>
            <a:ext cx="431800" cy="508000"/>
          </a:xfrm>
          <a:prstGeom prst="roundRect">
            <a:avLst/>
          </a:prstGeom>
          <a:solidFill>
            <a:srgbClr val="7B92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464BE1-BAA9-60CB-F53C-E1B68D8339A2}"/>
              </a:ext>
            </a:extLst>
          </p:cNvPr>
          <p:cNvSpPr txBox="1"/>
          <p:nvPr/>
        </p:nvSpPr>
        <p:spPr>
          <a:xfrm>
            <a:off x="7721600" y="5283200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34312C"/>
                </a:solidFill>
                <a:latin typeface="Microsoft YaHei" panose="020B0503020204020204" pitchFamily="34" charset="-122"/>
              </a:rPr>
              <a:t>RGAT`nWiki</a:t>
            </a:r>
            <a:endParaRPr lang="zh-CN" altLang="en-US" sz="8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DA9CF9-8AA1-D3FE-B7F0-A16A39FB08DF}"/>
              </a:ext>
            </a:extLst>
          </p:cNvPr>
          <p:cNvSpPr txBox="1"/>
          <p:nvPr/>
        </p:nvSpPr>
        <p:spPr>
          <a:xfrm>
            <a:off x="7721600" y="5435600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endParaRPr lang="zh-CN" altLang="en-US" sz="8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37C5C1-F6F6-A455-A33F-5BCBC4D1D817}"/>
              </a:ext>
            </a:extLst>
          </p:cNvPr>
          <p:cNvSpPr txBox="1"/>
          <p:nvPr/>
        </p:nvSpPr>
        <p:spPr>
          <a:xfrm>
            <a:off x="7696200" y="5588000"/>
            <a:ext cx="6858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0.177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733CCF0-B07E-45EE-A6EC-DBE91A943256}"/>
              </a:ext>
            </a:extLst>
          </p:cNvPr>
          <p:cNvSpPr/>
          <p:nvPr/>
        </p:nvSpPr>
        <p:spPr>
          <a:xfrm>
            <a:off x="8534400" y="4394200"/>
            <a:ext cx="431800" cy="787400"/>
          </a:xfrm>
          <a:prstGeom prst="roundRect">
            <a:avLst/>
          </a:prstGeom>
          <a:solidFill>
            <a:srgbClr val="4945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3213466-D166-0110-1BE1-BCA7E73B6814}"/>
              </a:ext>
            </a:extLst>
          </p:cNvPr>
          <p:cNvSpPr txBox="1"/>
          <p:nvPr/>
        </p:nvSpPr>
        <p:spPr>
          <a:xfrm>
            <a:off x="8458200" y="5283200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34312C"/>
                </a:solidFill>
                <a:latin typeface="Microsoft YaHei" panose="020B0503020204020204" pitchFamily="34" charset="-122"/>
              </a:rPr>
              <a:t>RGAT`nGICS</a:t>
            </a:r>
            <a:endParaRPr lang="zh-CN" altLang="en-US" sz="8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64D68C-13DB-CDD5-C37C-FA9FC5CDB259}"/>
              </a:ext>
            </a:extLst>
          </p:cNvPr>
          <p:cNvSpPr txBox="1"/>
          <p:nvPr/>
        </p:nvSpPr>
        <p:spPr>
          <a:xfrm>
            <a:off x="8458200" y="5435600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endParaRPr lang="zh-CN" altLang="en-US" sz="8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ADCD2B4-43CC-AD8D-74AE-C21F8F289489}"/>
              </a:ext>
            </a:extLst>
          </p:cNvPr>
          <p:cNvSpPr txBox="1"/>
          <p:nvPr/>
        </p:nvSpPr>
        <p:spPr>
          <a:xfrm>
            <a:off x="8432800" y="5588000"/>
            <a:ext cx="6858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0.273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6699179-43EA-8565-2A09-E3010DA69227}"/>
              </a:ext>
            </a:extLst>
          </p:cNvPr>
          <p:cNvSpPr/>
          <p:nvPr/>
        </p:nvSpPr>
        <p:spPr>
          <a:xfrm>
            <a:off x="9271000" y="3962400"/>
            <a:ext cx="431800" cy="1219200"/>
          </a:xfrm>
          <a:prstGeom prst="round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50C455-64EE-374F-52DC-D7009BDAF318}"/>
              </a:ext>
            </a:extLst>
          </p:cNvPr>
          <p:cNvSpPr txBox="1"/>
          <p:nvPr/>
        </p:nvSpPr>
        <p:spPr>
          <a:xfrm>
            <a:off x="9194800" y="5283200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34312C"/>
                </a:solidFill>
                <a:latin typeface="Microsoft YaHei" panose="020B0503020204020204" pitchFamily="34" charset="-122"/>
              </a:rPr>
              <a:t>RGAT`nLLM</a:t>
            </a:r>
            <a:endParaRPr lang="zh-CN" altLang="en-US" sz="8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FD6D48-8460-4AE4-5496-EA3C12770CAD}"/>
              </a:ext>
            </a:extLst>
          </p:cNvPr>
          <p:cNvSpPr txBox="1"/>
          <p:nvPr/>
        </p:nvSpPr>
        <p:spPr>
          <a:xfrm>
            <a:off x="9194800" y="5435600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endParaRPr lang="zh-CN" altLang="en-US" sz="8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0F0C31C-1673-3B04-AE61-360D79E2E288}"/>
              </a:ext>
            </a:extLst>
          </p:cNvPr>
          <p:cNvSpPr txBox="1"/>
          <p:nvPr/>
        </p:nvSpPr>
        <p:spPr>
          <a:xfrm>
            <a:off x="9169400" y="5588000"/>
            <a:ext cx="6858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0.421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2A292C-5D81-979F-33DC-F16698B679A2}"/>
              </a:ext>
            </a:extLst>
          </p:cNvPr>
          <p:cNvSpPr/>
          <p:nvPr/>
        </p:nvSpPr>
        <p:spPr>
          <a:xfrm>
            <a:off x="10007600" y="4445000"/>
            <a:ext cx="431800" cy="736600"/>
          </a:xfrm>
          <a:prstGeom prst="roundRect">
            <a:avLst/>
          </a:prstGeom>
          <a:solidFill>
            <a:srgbClr val="7B92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E62DE4A-1BFC-6613-5DD7-9E83DA842572}"/>
              </a:ext>
            </a:extLst>
          </p:cNvPr>
          <p:cNvSpPr txBox="1"/>
          <p:nvPr/>
        </p:nvSpPr>
        <p:spPr>
          <a:xfrm>
            <a:off x="9931400" y="5283200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34312C"/>
                </a:solidFill>
                <a:latin typeface="Microsoft YaHei" panose="020B0503020204020204" pitchFamily="34" charset="-122"/>
              </a:rPr>
              <a:t>RGCN`nWiki</a:t>
            </a:r>
            <a:endParaRPr lang="zh-CN" altLang="en-US" sz="8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A565A29-6C68-6C83-48C4-49018542D075}"/>
              </a:ext>
            </a:extLst>
          </p:cNvPr>
          <p:cNvSpPr txBox="1"/>
          <p:nvPr/>
        </p:nvSpPr>
        <p:spPr>
          <a:xfrm>
            <a:off x="9931400" y="5435600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endParaRPr lang="zh-CN" altLang="en-US" sz="8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652680D-9E3C-D913-F626-219104AE013E}"/>
              </a:ext>
            </a:extLst>
          </p:cNvPr>
          <p:cNvSpPr txBox="1"/>
          <p:nvPr/>
        </p:nvSpPr>
        <p:spPr>
          <a:xfrm>
            <a:off x="9906000" y="5588000"/>
            <a:ext cx="6858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0.254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5908E46-9407-54D4-5435-DFA884435AFB}"/>
              </a:ext>
            </a:extLst>
          </p:cNvPr>
          <p:cNvSpPr/>
          <p:nvPr/>
        </p:nvSpPr>
        <p:spPr>
          <a:xfrm>
            <a:off x="10744200" y="3403600"/>
            <a:ext cx="431800" cy="1778000"/>
          </a:xfrm>
          <a:prstGeom prst="roundRect">
            <a:avLst/>
          </a:prstGeom>
          <a:solidFill>
            <a:srgbClr val="4945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AB50A86-378A-6EC5-AFC5-17B21E963DDA}"/>
              </a:ext>
            </a:extLst>
          </p:cNvPr>
          <p:cNvSpPr txBox="1"/>
          <p:nvPr/>
        </p:nvSpPr>
        <p:spPr>
          <a:xfrm>
            <a:off x="10668000" y="5283200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34312C"/>
                </a:solidFill>
                <a:latin typeface="Microsoft YaHei" panose="020B0503020204020204" pitchFamily="34" charset="-122"/>
              </a:rPr>
              <a:t>RGCN`nGICS</a:t>
            </a:r>
            <a:endParaRPr lang="zh-CN" altLang="en-US" sz="8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95B8443-8B1C-3329-CCA0-0085006B5933}"/>
              </a:ext>
            </a:extLst>
          </p:cNvPr>
          <p:cNvSpPr txBox="1"/>
          <p:nvPr/>
        </p:nvSpPr>
        <p:spPr>
          <a:xfrm>
            <a:off x="10668000" y="5435600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endParaRPr lang="zh-CN" altLang="en-US" sz="8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2F1E74C-79DD-B55D-27F9-411960625BCF}"/>
              </a:ext>
            </a:extLst>
          </p:cNvPr>
          <p:cNvSpPr txBox="1"/>
          <p:nvPr/>
        </p:nvSpPr>
        <p:spPr>
          <a:xfrm>
            <a:off x="10642600" y="5588000"/>
            <a:ext cx="6858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0.600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21845C9-20C3-648B-27CC-D760A0E1C5A5}"/>
              </a:ext>
            </a:extLst>
          </p:cNvPr>
          <p:cNvSpPr/>
          <p:nvPr/>
        </p:nvSpPr>
        <p:spPr>
          <a:xfrm>
            <a:off x="11480800" y="2794000"/>
            <a:ext cx="431800" cy="2387600"/>
          </a:xfrm>
          <a:prstGeom prst="roundRect">
            <a:avLst/>
          </a:prstGeom>
          <a:solidFill>
            <a:srgbClr val="B770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38C1342-F618-D9A4-E884-E2FBAF2B3983}"/>
              </a:ext>
            </a:extLst>
          </p:cNvPr>
          <p:cNvSpPr txBox="1"/>
          <p:nvPr/>
        </p:nvSpPr>
        <p:spPr>
          <a:xfrm>
            <a:off x="11404600" y="5283200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34312C"/>
                </a:solidFill>
                <a:latin typeface="Microsoft YaHei" panose="020B0503020204020204" pitchFamily="34" charset="-122"/>
              </a:rPr>
              <a:t>RGCN`nLLM</a:t>
            </a:r>
            <a:endParaRPr lang="zh-CN" altLang="en-US" sz="8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D2EF3E2-5E49-5B4E-B66E-3031A377DC07}"/>
              </a:ext>
            </a:extLst>
          </p:cNvPr>
          <p:cNvSpPr txBox="1"/>
          <p:nvPr/>
        </p:nvSpPr>
        <p:spPr>
          <a:xfrm>
            <a:off x="11404600" y="5435600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endParaRPr lang="zh-CN" altLang="en-US" sz="800">
              <a:solidFill>
                <a:srgbClr val="3431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12FF5E0-D983-928E-C98C-2AE6A3E1DC22}"/>
              </a:ext>
            </a:extLst>
          </p:cNvPr>
          <p:cNvSpPr txBox="1"/>
          <p:nvPr/>
        </p:nvSpPr>
        <p:spPr>
          <a:xfrm>
            <a:off x="11379200" y="5588000"/>
            <a:ext cx="685800" cy="123111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en-US" altLang="zh-CN" sz="800">
                <a:solidFill>
                  <a:srgbClr val="6D655B"/>
                </a:solidFill>
                <a:latin typeface="Microsoft YaHei" panose="020B0503020204020204" pitchFamily="34" charset="-122"/>
              </a:rPr>
              <a:t>0.820</a:t>
            </a:r>
            <a:endParaRPr lang="zh-CN" altLang="en-US" sz="800">
              <a:solidFill>
                <a:srgbClr val="6D655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435A985-D6BD-EE73-A0DA-246FA4190591}"/>
              </a:ext>
            </a:extLst>
          </p:cNvPr>
          <p:cNvSpPr txBox="1"/>
          <p:nvPr/>
        </p:nvSpPr>
        <p:spPr>
          <a:xfrm>
            <a:off x="7518400" y="5918200"/>
            <a:ext cx="3810000" cy="400110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1300">
                <a:solidFill>
                  <a:srgbClr val="6D655B"/>
                </a:solidFill>
                <a:latin typeface="Microsoft YaHei" panose="020B0503020204020204" pitchFamily="34" charset="-122"/>
              </a:rPr>
              <a:t>结论：</a:t>
            </a:r>
            <a:r>
              <a:rPr lang="en-US" altLang="zh-CN" sz="1300">
                <a:solidFill>
                  <a:srgbClr val="6D655B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300">
                <a:solidFill>
                  <a:srgbClr val="6D655B"/>
                </a:solidFill>
                <a:latin typeface="Microsoft YaHei" panose="020B0503020204020204" pitchFamily="34" charset="-122"/>
              </a:rPr>
              <a:t>图不仅改善指标，也提升了模拟投资中的风险收益表现。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9C871991-D4C8-6E00-3D23-D710CFE8652D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4E51FBC-FD3A-A6A1-703F-B0D5E811DB2B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1910886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90E1E1D-E99C-C2BB-E7E0-EA12C6D2DE4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98A6ADCE-DD7C-28B6-D7DD-1B63E115EBC3}"/>
              </a:ext>
            </a:extLst>
          </p:cNvPr>
          <p:cNvSpPr/>
          <p:nvPr/>
        </p:nvSpPr>
        <p:spPr>
          <a:xfrm>
            <a:off x="609600" y="533400"/>
            <a:ext cx="5969000" cy="5461000"/>
          </a:xfrm>
          <a:prstGeom prst="roundRect">
            <a:avLst/>
          </a:prstGeom>
          <a:solidFill>
            <a:srgbClr val="FAF6EE">
              <a:alpha val="90000"/>
            </a:srgbClr>
          </a:solidFill>
          <a:ln w="15240">
            <a:solidFill>
              <a:srgbClr val="DCD0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4C2452-FB96-284F-9D18-257E8FD8238B}"/>
              </a:ext>
            </a:extLst>
          </p:cNvPr>
          <p:cNvSpPr txBox="1"/>
          <p:nvPr/>
        </p:nvSpPr>
        <p:spPr>
          <a:xfrm>
            <a:off x="914400" y="431800"/>
            <a:ext cx="660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2800" b="1">
                <a:solidFill>
                  <a:srgbClr val="34312C"/>
                </a:solidFill>
                <a:latin typeface="Microsoft YaHei" panose="020B0503020204020204" pitchFamily="34" charset="-122"/>
              </a:rPr>
              <a:t>结论、局限与思考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012BCE-AC72-C7F2-E05E-D9CA6DC7DFB4}"/>
              </a:ext>
            </a:extLst>
          </p:cNvPr>
          <p:cNvSpPr txBox="1"/>
          <p:nvPr/>
        </p:nvSpPr>
        <p:spPr>
          <a:xfrm>
            <a:off x="1016000" y="1524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结论：</a:t>
            </a: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可以被当作一种公司关系知识源，用于构建股票关系图。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ABBB19-A968-5EFA-06DA-7B9C805C3DF0}"/>
              </a:ext>
            </a:extLst>
          </p:cNvPr>
          <p:cNvSpPr txBox="1"/>
          <p:nvPr/>
        </p:nvSpPr>
        <p:spPr>
          <a:xfrm>
            <a:off x="1016000" y="23241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优点：思路清楚，方法链路完整，结果在两种图模型上都成立。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0D39F9-87DA-01AC-A63A-FE098E80F339}"/>
              </a:ext>
            </a:extLst>
          </p:cNvPr>
          <p:cNvSpPr txBox="1"/>
          <p:nvPr/>
        </p:nvSpPr>
        <p:spPr>
          <a:xfrm>
            <a:off x="1016000" y="31242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局限：关系真实性主要靠下游效果间接证明，缺少充分人工核验；同时关系图仍是静态的。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B433F1-C4D7-939C-F1C4-6A82DF25076F}"/>
              </a:ext>
            </a:extLst>
          </p:cNvPr>
          <p:cNvSpPr txBox="1"/>
          <p:nvPr/>
        </p:nvSpPr>
        <p:spPr>
          <a:xfrm>
            <a:off x="1016000" y="39243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34312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34312C"/>
                </a:solidFill>
                <a:latin typeface="Microsoft YaHei" panose="020B0503020204020204" pitchFamily="34" charset="-122"/>
              </a:rPr>
              <a:t>可继续思考：若引入动态关系、检索增强或多模态信息，效果是否还能进一步提升？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EB1A16A-0799-6592-E421-0BBAF652323D}"/>
              </a:ext>
            </a:extLst>
          </p:cNvPr>
          <p:cNvSpPr/>
          <p:nvPr/>
        </p:nvSpPr>
        <p:spPr>
          <a:xfrm>
            <a:off x="914400" y="6273800"/>
            <a:ext cx="1397000" cy="330200"/>
          </a:xfrm>
          <a:prstGeom prst="roundRect">
            <a:avLst/>
          </a:prstGeom>
          <a:solidFill>
            <a:srgbClr val="B77050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D49DDD-7BE1-190A-B0F7-3962FB10D6D7}"/>
              </a:ext>
            </a:extLst>
          </p:cNvPr>
          <p:cNvSpPr txBox="1"/>
          <p:nvPr/>
        </p:nvSpPr>
        <p:spPr>
          <a:xfrm>
            <a:off x="1092200" y="63373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Ctr="0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论文解读</a:t>
            </a:r>
          </a:p>
        </p:txBody>
      </p:sp>
    </p:spTree>
    <p:extLst>
      <p:ext uri="{BB962C8B-B14F-4D97-AF65-F5344CB8AC3E}">
        <p14:creationId xmlns:p14="http://schemas.microsoft.com/office/powerpoint/2010/main" val="3430207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1541</Words>
  <Application>Microsoft Office PowerPoint</Application>
  <PresentationFormat>宽屏</PresentationFormat>
  <Paragraphs>167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Microsoft YaHei</vt:lpstr>
      <vt:lpstr>Arial</vt:lpstr>
      <vt:lpstr>Cambria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723856119@qq.com</dc:creator>
  <cp:lastModifiedBy>723856119@qq.com</cp:lastModifiedBy>
  <cp:revision>1</cp:revision>
  <dcterms:created xsi:type="dcterms:W3CDTF">2026-06-01T08:56:09Z</dcterms:created>
  <dcterms:modified xsi:type="dcterms:W3CDTF">2026-06-01T10:55:55Z</dcterms:modified>
</cp:coreProperties>
</file>